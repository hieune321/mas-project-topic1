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728655" cy="5486400"/>
          </a:xfrm>
          <a:prstGeom prst="rect">
            <a:avLst/>
          </a:prstGeom>
          <a:noFill/>
        </p:spPr>
        <p:txBody>
          <a:bodyPr wrap="square">
            <a:spAutoFit/>
          </a:bodyPr>
          <a:lstStyle/>
          <a:p>
            <a:pPr>
              <a:defRPr sz="1300" b="1">
                <a:solidFill>
                  <a:srgbClr val="C8E1FF"/>
                </a:solidFill>
              </a:defRPr>
            </a:pPr>
            <a:r>
              <a:t>TRƯỜNG ĐẠI HỌC FPT — BÀI TẬP LỚN MÁY TÍNH (COMPUTER PROJECT)</a:t>
            </a:r>
          </a:p>
          <a:p>
            <a:pPr>
              <a:spcBef>
                <a:spcPts val="800"/>
              </a:spcBef>
              <a:defRPr sz="2800" b="1">
                <a:solidFill>
                  <a:srgbClr val="FFFFFF"/>
                </a:solidFill>
              </a:defRPr>
            </a:pPr>
            <a:r>
              <a:t>ĐỀ TÀI 1: ĐIỂM GIỮA KỲ VÀ ĐIỂM CUỐI KỲ</a:t>
            </a:r>
          </a:p>
          <a:p>
            <a:pPr>
              <a:spcBef>
                <a:spcPts val="600"/>
              </a:spcBef>
              <a:defRPr sz="1400" i="1">
                <a:solidFill>
                  <a:srgbClr val="E6F0FF"/>
                </a:solidFill>
              </a:defRPr>
            </a:pPr>
            <a:r>
              <a:t>Câu hỏi nghiên cứu: “Điểm giữa kỳ có giúp dự đoán điểm cuối kỳ của sinh viên trong cùng học phần không?”</a:t>
            </a:r>
          </a:p>
          <a:p>
            <a:pPr>
              <a:spcBef>
                <a:spcPts val="1000"/>
              </a:spcBef>
              <a:defRPr sz="1300" b="1">
                <a:solidFill>
                  <a:srgbClr val="FFD700"/>
                </a:solidFill>
              </a:defRPr>
            </a:pPr>
            <a:r>
              <a:t>Học phần: MAS291 (Xác suất &amp; Thống kê ứng dụng)  |  Lớp: MAS291  |  Nhóm: Nhóm 1  |  GVHD: nhannxv</a:t>
            </a:r>
          </a:p>
          <a:p>
            <a:pPr>
              <a:spcBef>
                <a:spcPts val="1400"/>
              </a:spcBef>
              <a:defRPr sz="1200" b="1">
                <a:solidFill>
                  <a:srgbClr val="FFFFFF"/>
                </a:solidFill>
              </a:defRPr>
            </a:pPr>
            <a:r>
              <a:t>DANH SÁCH THÀNH VIÊN NHÓM 1 THỰC HIỆN:</a:t>
            </a:r>
          </a:p>
          <a:p>
            <a:pPr>
              <a:spcBef>
                <a:spcPts val="300"/>
              </a:spcBef>
              <a:defRPr sz="1150">
                <a:solidFill>
                  <a:srgbClr val="D7EBFF"/>
                </a:solidFill>
              </a:defRPr>
            </a:pPr>
            <a:r>
              <a:t>• 1. Mai Xuân Hiếu — MSSV: DE200199 (Nhóm trưởng / Mở đầu &amp; Làm sạch)</a:t>
            </a:r>
          </a:p>
          <a:p>
            <a:pPr>
              <a:spcBef>
                <a:spcPts val="300"/>
              </a:spcBef>
              <a:defRPr sz="1150">
                <a:solidFill>
                  <a:srgbClr val="D7EBFF"/>
                </a:solidFill>
              </a:defRPr>
            </a:pPr>
            <a:r>
              <a:t>• 2. Nguyễn Hữu Hoàng Thắng — MSSV: DE200281 (Thống kê mô tả &amp; Phân phối)</a:t>
            </a:r>
          </a:p>
          <a:p>
            <a:pPr>
              <a:spcBef>
                <a:spcPts val="300"/>
              </a:spcBef>
              <a:defRPr sz="1150">
                <a:solidFill>
                  <a:srgbClr val="D7EBFF"/>
                </a:solidFill>
              </a:defRPr>
            </a:pPr>
            <a:r>
              <a:t>• 3. Trần Đức Duy — MSSV: DE180206 (Tương quan Pearson &amp; Hồi quy OLS)</a:t>
            </a:r>
          </a:p>
          <a:p>
            <a:pPr>
              <a:spcBef>
                <a:spcPts val="300"/>
              </a:spcBef>
              <a:defRPr sz="1150">
                <a:solidFill>
                  <a:srgbClr val="D7EBFF"/>
                </a:solidFill>
              </a:defRPr>
            </a:pPr>
            <a:r>
              <a:t>• 4. Phan Dương Sinh — MSSV: DE200235 (Chẩn đoán giả định Gauss-Markov)</a:t>
            </a:r>
          </a:p>
          <a:p>
            <a:pPr>
              <a:spcBef>
                <a:spcPts val="300"/>
              </a:spcBef>
              <a:defRPr sz="1150">
                <a:solidFill>
                  <a:srgbClr val="D7EBFF"/>
                </a:solidFill>
              </a:defRPr>
            </a:pPr>
            <a:r>
              <a:t>• 5. Võ Ngọc Minh Quân — MSSV: DE200080 (Khoảng tin cậy &amp; Kiểm định giả thuyết)</a:t>
            </a:r>
          </a:p>
          <a:p>
            <a:pPr>
              <a:spcBef>
                <a:spcPts val="300"/>
              </a:spcBef>
              <a:defRPr sz="1150">
                <a:solidFill>
                  <a:srgbClr val="D7EBFF"/>
                </a:solidFill>
              </a:defRPr>
            </a:pPr>
            <a:r>
              <a:t>• 6. Vũ Hữu Thái — MSSV: DE200132 (Dự đoán điểm, Giới hạn thực nghiệm &amp; Tổng kết)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8229600" cy="320040"/>
          </a:xfrm>
          <a:prstGeom prst="rect">
            <a:avLst/>
          </a:prstGeom>
          <a:noFill/>
        </p:spPr>
        <p:txBody>
          <a:bodyPr wrap="square">
            <a:spAutoFit/>
          </a:bodyPr>
          <a:lstStyle/>
          <a:p>
            <a:pPr>
              <a:defRPr sz="1100" b="1">
                <a:solidFill>
                  <a:srgbClr val="C8E1FF"/>
                </a:solidFill>
              </a:defRPr>
            </a:pPr>
            <a:r>
              <a:t>CÂU 1 &amp; 2 — MỤC TIÊU VÀ DỮ LIỆU</a:t>
            </a:r>
          </a:p>
        </p:txBody>
      </p:sp>
      <p:sp>
        <p:nvSpPr>
          <p:cNvPr id="4" name="TextBox 3"/>
          <p:cNvSpPr txBox="1"/>
          <p:nvPr/>
        </p:nvSpPr>
        <p:spPr>
          <a:xfrm>
            <a:off x="731520" y="384048"/>
            <a:ext cx="8686800" cy="594360"/>
          </a:xfrm>
          <a:prstGeom prst="rect">
            <a:avLst/>
          </a:prstGeom>
          <a:noFill/>
        </p:spPr>
        <p:txBody>
          <a:bodyPr wrap="square">
            <a:spAutoFit/>
          </a:bodyPr>
          <a:lstStyle/>
          <a:p>
            <a:pPr>
              <a:defRPr sz="2100" b="1">
                <a:solidFill>
                  <a:srgbClr val="FFFFFF"/>
                </a:solidFill>
              </a:defRPr>
            </a:pPr>
            <a:r>
              <a:t>1. Thiết Kế Nghiên Cứu &amp; Quy Trình Làm Sạch Dữ Liệu</a:t>
            </a:r>
          </a:p>
        </p:txBody>
      </p:sp>
      <p:sp>
        <p:nvSpPr>
          <p:cNvPr id="5" name="Rounded Rectangle 4"/>
          <p:cNvSpPr/>
          <p:nvPr/>
        </p:nvSpPr>
        <p:spPr>
          <a:xfrm>
            <a:off x="9601200" y="320040"/>
            <a:ext cx="2011680" cy="457200"/>
          </a:xfrm>
          <a:prstGeom prst="round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Mai Xuân Hiếu (DE200199)</a:t>
            </a:r>
          </a:p>
        </p:txBody>
      </p:sp>
      <p:sp>
        <p:nvSpPr>
          <p:cNvPr id="6" name="Rounded Rectangle 5"/>
          <p:cNvSpPr/>
          <p:nvPr/>
        </p:nvSpPr>
        <p:spPr>
          <a:xfrm>
            <a:off x="731520" y="1371600"/>
            <a:ext cx="5120640" cy="4937760"/>
          </a:xfrm>
          <a:prstGeom prst="roundRect">
            <a:avLst/>
          </a:prstGeom>
          <a:solidFill>
            <a:srgbClr val="F5F8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600">
                <a:solidFill>
                  <a:srgbClr val="1F497D"/>
                </a:solidFill>
              </a:defRPr>
            </a:pPr>
            <a:r>
              <a:t>Thiết Kế Mẫu Nghiên Cứu (Câu 1)</a:t>
            </a:r>
          </a:p>
          <a:p>
            <a:pPr>
              <a:spcBef>
                <a:spcPts val="800"/>
              </a:spcBef>
            </a:pPr>
            <a:r>
              <a:rPr b="1" sz="1200">
                <a:solidFill>
                  <a:srgbClr val="232323"/>
                </a:solidFill>
              </a:rPr>
              <a:t>• Tổng thể mục tiêu: </a:t>
            </a:r>
            <a:r>
              <a:rPr sz="1200">
                <a:solidFill>
                  <a:srgbClr val="232323"/>
                </a:solidFill>
              </a:rPr>
              <a:t>Sinh viên theo học học phần Xác suất Thống kê.</a:t>
            </a:r>
          </a:p>
          <a:p>
            <a:pPr>
              <a:spcBef>
                <a:spcPts val="800"/>
              </a:spcBef>
            </a:pPr>
            <a:r>
              <a:rPr b="1" sz="1200">
                <a:solidFill>
                  <a:srgbClr val="232323"/>
                </a:solidFill>
              </a:rPr>
              <a:t>• Biến độc lập X: </a:t>
            </a:r>
            <a:r>
              <a:rPr sz="1200">
                <a:solidFill>
                  <a:srgbClr val="232323"/>
                </a:solidFill>
              </a:rPr>
              <a:t>Điểm bài thi giữa kỳ (thang điểm 0–10).</a:t>
            </a:r>
          </a:p>
          <a:p>
            <a:pPr>
              <a:spcBef>
                <a:spcPts val="800"/>
              </a:spcBef>
            </a:pPr>
            <a:r>
              <a:rPr b="1" sz="1200">
                <a:solidFill>
                  <a:srgbClr val="232323"/>
                </a:solidFill>
              </a:rPr>
              <a:t>• Biến phụ thuộc Y: </a:t>
            </a:r>
            <a:r>
              <a:rPr sz="1200">
                <a:solidFill>
                  <a:srgbClr val="232323"/>
                </a:solidFill>
              </a:rPr>
              <a:t>Điểm bài thi cuối kỳ (thang điểm 0–10).</a:t>
            </a:r>
          </a:p>
          <a:p>
            <a:pPr>
              <a:spcBef>
                <a:spcPts val="800"/>
              </a:spcBef>
            </a:pPr>
            <a:r>
              <a:rPr b="1" sz="1200">
                <a:solidFill>
                  <a:srgbClr val="232323"/>
                </a:solidFill>
              </a:rPr>
              <a:t>• Nguyên tắc bắt buộc: </a:t>
            </a:r>
            <a:r>
              <a:rPr sz="1200">
                <a:solidFill>
                  <a:srgbClr val="232323"/>
                </a:solidFill>
              </a:rPr>
              <a:t>Tuyệt đối không dùng điểm tổng kết môn đã gộp X làm biến Y để tránh tương quan nội sinh.</a:t>
            </a:r>
          </a:p>
          <a:p>
            <a:pPr>
              <a:spcBef>
                <a:spcPts val="800"/>
              </a:spcBef>
            </a:pPr>
            <a:r>
              <a:rPr b="1" sz="1200">
                <a:solidFill>
                  <a:srgbClr val="232323"/>
                </a:solidFill>
              </a:rPr>
              <a:t>• Phương pháp chọn mẫu: </a:t>
            </a:r>
            <a:r>
              <a:rPr sz="1200">
                <a:solidFill>
                  <a:srgbClr val="232323"/>
                </a:solidFill>
              </a:rPr>
              <a:t>Khảo sát trực tuyến ẩn danh qua Google Forms, không lưu vết thông tin cá nhân.</a:t>
            </a:r>
          </a:p>
          <a:p>
            <a:pPr>
              <a:spcBef>
                <a:spcPts val="800"/>
              </a:spcBef>
            </a:pPr>
            <a:r>
              <a:rPr b="1" sz="1200">
                <a:solidFill>
                  <a:srgbClr val="232323"/>
                </a:solidFill>
              </a:rPr>
              <a:t>• Tính đại diện: </a:t>
            </a:r>
            <a:r>
              <a:rPr sz="1200">
                <a:solidFill>
                  <a:srgbClr val="232323"/>
                </a:solidFill>
              </a:rPr>
              <a:t>Kết luận đại diện cho nhóm sinh viên được khảo sát; cẩn trọng khi ngoại suy diện rộng.</a:t>
            </a:r>
          </a:p>
        </p:txBody>
      </p:sp>
      <p:sp>
        <p:nvSpPr>
          <p:cNvPr id="7" name="Rounded Rectangle 6"/>
          <p:cNvSpPr/>
          <p:nvPr/>
        </p:nvSpPr>
        <p:spPr>
          <a:xfrm>
            <a:off x="6217920" y="1371600"/>
            <a:ext cx="5212080" cy="4937760"/>
          </a:xfrm>
          <a:prstGeom prst="roundRect">
            <a:avLst/>
          </a:prstGeom>
          <a:solidFill>
            <a:srgbClr val="F5F8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600">
                <a:solidFill>
                  <a:srgbClr val="1F497D"/>
                </a:solidFill>
              </a:defRPr>
            </a:pPr>
            <a:r>
              <a:t>Kết Quả Kiểm Tra &amp; Làm Sạch (Câu 2)</a:t>
            </a:r>
          </a:p>
          <a:p>
            <a:pPr>
              <a:spcBef>
                <a:spcPts val="800"/>
              </a:spcBef>
            </a:pPr>
            <a:r>
              <a:rPr b="1" sz="1200">
                <a:solidFill>
                  <a:srgbClr val="232323"/>
                </a:solidFill>
              </a:rPr>
              <a:t>✔ Tổng số bản ghi ban đầu: </a:t>
            </a:r>
            <a:r>
              <a:rPr sz="1200" b="0">
                <a:solidFill>
                  <a:srgbClr val="232323"/>
                </a:solidFill>
              </a:rPr>
              <a:t>35 phản hồi từ Google Forms.</a:t>
            </a:r>
          </a:p>
          <a:p>
            <a:pPr>
              <a:spcBef>
                <a:spcPts val="800"/>
              </a:spcBef>
            </a:pPr>
            <a:r>
              <a:rPr b="1" sz="1200">
                <a:solidFill>
                  <a:srgbClr val="232323"/>
                </a:solidFill>
              </a:rPr>
              <a:t>✔ Loại bỏ vi phạm đạo đức: </a:t>
            </a:r>
            <a:r>
              <a:rPr sz="1200" b="0">
                <a:solidFill>
                  <a:srgbClr val="232323"/>
                </a:solidFill>
              </a:rPr>
              <a:t>2 bản ghi chọn 'Không đồng ý' chia sẻ dữ liệu (Row 7 và Row 22).</a:t>
            </a:r>
          </a:p>
          <a:p>
            <a:pPr>
              <a:spcBef>
                <a:spcPts val="800"/>
              </a:spcBef>
            </a:pPr>
            <a:r>
              <a:rPr b="1" sz="1200">
                <a:solidFill>
                  <a:srgbClr val="232323"/>
                </a:solidFill>
              </a:rPr>
              <a:t>✔ Loại bỏ trùng lặp: </a:t>
            </a:r>
            <a:r>
              <a:rPr sz="1200" b="0">
                <a:solidFill>
                  <a:srgbClr val="232323"/>
                </a:solidFill>
              </a:rPr>
              <a:t>1 bản ghi trùng mã sinh viên (de200125).</a:t>
            </a:r>
          </a:p>
          <a:p>
            <a:pPr>
              <a:spcBef>
                <a:spcPts val="800"/>
              </a:spcBef>
            </a:pPr>
            <a:r>
              <a:rPr b="1" sz="1200">
                <a:solidFill>
                  <a:srgbClr val="232323"/>
                </a:solidFill>
              </a:rPr>
              <a:t>✔ Kiểm tra thang điểm [0, 10]: </a:t>
            </a:r>
            <a:r>
              <a:rPr sz="1200" b="0">
                <a:solidFill>
                  <a:srgbClr val="232323"/>
                </a:solidFill>
              </a:rPr>
              <a:t>Không có điểm âm hoặc điểm &gt; 10.</a:t>
            </a:r>
          </a:p>
          <a:p>
            <a:pPr>
              <a:spcBef>
                <a:spcPts val="800"/>
              </a:spcBef>
            </a:pPr>
            <a:r>
              <a:rPr b="1" sz="1200">
                <a:solidFill>
                  <a:srgbClr val="232323"/>
                </a:solidFill>
              </a:rPr>
              <a:t>✔ Kiểm tra dữ liệu thiếu: </a:t>
            </a:r>
            <a:r>
              <a:rPr sz="1200" b="0">
                <a:solidFill>
                  <a:srgbClr val="232323"/>
                </a:solidFill>
              </a:rPr>
              <a:t>Không có ô trống trên X và Y.</a:t>
            </a:r>
          </a:p>
          <a:p>
            <a:pPr>
              <a:spcBef>
                <a:spcPts val="800"/>
              </a:spcBef>
            </a:pPr>
            <a:r>
              <a:rPr b="1" sz="1200">
                <a:solidFill>
                  <a:srgbClr val="1F497D"/>
                </a:solidFill>
              </a:rPr>
              <a:t>✔ CỠ MẪU HỢP LỆ CHÍNH THỨC: </a:t>
            </a:r>
            <a:r>
              <a:rPr sz="1200" b="1">
                <a:solidFill>
                  <a:srgbClr val="27AE60"/>
                </a:solidFill>
              </a:rPr>
              <a:t>n = 32 cặp quan sát (Đạt chuẩn n &gt;= 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8229600" cy="320040"/>
          </a:xfrm>
          <a:prstGeom prst="rect">
            <a:avLst/>
          </a:prstGeom>
          <a:noFill/>
        </p:spPr>
        <p:txBody>
          <a:bodyPr wrap="square">
            <a:spAutoFit/>
          </a:bodyPr>
          <a:lstStyle/>
          <a:p>
            <a:pPr>
              <a:defRPr sz="1100" b="1">
                <a:solidFill>
                  <a:srgbClr val="C8E1FF"/>
                </a:solidFill>
              </a:defRPr>
            </a:pPr>
            <a:r>
              <a:t>CÂU 3 — THỐNG KÊ MÔ TẢ</a:t>
            </a:r>
          </a:p>
        </p:txBody>
      </p:sp>
      <p:sp>
        <p:nvSpPr>
          <p:cNvPr id="4" name="TextBox 3"/>
          <p:cNvSpPr txBox="1"/>
          <p:nvPr/>
        </p:nvSpPr>
        <p:spPr>
          <a:xfrm>
            <a:off x="731520" y="384048"/>
            <a:ext cx="8686800" cy="594360"/>
          </a:xfrm>
          <a:prstGeom prst="rect">
            <a:avLst/>
          </a:prstGeom>
          <a:noFill/>
        </p:spPr>
        <p:txBody>
          <a:bodyPr wrap="square">
            <a:spAutoFit/>
          </a:bodyPr>
          <a:lstStyle/>
          <a:p>
            <a:pPr>
              <a:defRPr sz="2100" b="1">
                <a:solidFill>
                  <a:srgbClr val="FFFFFF"/>
                </a:solidFill>
              </a:defRPr>
            </a:pPr>
            <a:r>
              <a:t>2. Bảng Thống Kê Mô Tả Điểm Giữa Kỳ và Cuối Kỳ</a:t>
            </a:r>
          </a:p>
        </p:txBody>
      </p:sp>
      <p:sp>
        <p:nvSpPr>
          <p:cNvPr id="5" name="Rounded Rectangle 4"/>
          <p:cNvSpPr/>
          <p:nvPr/>
        </p:nvSpPr>
        <p:spPr>
          <a:xfrm>
            <a:off x="9601200" y="320040"/>
            <a:ext cx="2011680" cy="457200"/>
          </a:xfrm>
          <a:prstGeom prst="round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Nguyễn Hữu Hoàng Thắng (DE200281)</a:t>
            </a:r>
          </a:p>
        </p:txBody>
      </p:sp>
      <p:graphicFrame>
        <p:nvGraphicFramePr>
          <p:cNvPr id="6" name="Table 5"/>
          <p:cNvGraphicFramePr>
            <a:graphicFrameLocks noGrp="1"/>
          </p:cNvGraphicFramePr>
          <p:nvPr/>
        </p:nvGraphicFramePr>
        <p:xfrm>
          <a:off x="731520" y="1280160"/>
          <a:ext cx="7315200" cy="5029200"/>
        </p:xfrm>
        <a:graphic>
          <a:graphicData uri="http://schemas.openxmlformats.org/drawingml/2006/table">
            <a:tbl>
              <a:tblPr firstRow="1" bandRow="1">
                <a:tableStyleId>{5C22544A-7EE6-4342-B048-85BDC9FD1C3A}</a:tableStyleId>
              </a:tblPr>
              <a:tblGrid>
                <a:gridCol w="2377440"/>
                <a:gridCol w="1645920"/>
                <a:gridCol w="1645920"/>
                <a:gridCol w="1645920"/>
              </a:tblGrid>
              <a:tr h="457200">
                <a:tc>
                  <a:txBody>
                    <a:bodyPr/>
                    <a:lstStyle/>
                    <a:p>
                      <a:pPr algn="ctr">
                        <a:defRPr b="1" sz="1200">
                          <a:solidFill>
                            <a:srgbClr val="FFFFFF"/>
                          </a:solidFill>
                        </a:defRPr>
                      </a:pPr>
                      <a:r>
                        <a:t>Chỉ số thống kê</a:t>
                      </a:r>
                    </a:p>
                  </a:txBody>
                  <a:tcPr>
                    <a:solidFill>
                      <a:srgbClr val="1F497D"/>
                    </a:solidFill>
                  </a:tcPr>
                </a:tc>
                <a:tc>
                  <a:txBody>
                    <a:bodyPr/>
                    <a:lstStyle/>
                    <a:p>
                      <a:pPr algn="ctr">
                        <a:defRPr b="1" sz="1200">
                          <a:solidFill>
                            <a:srgbClr val="FFFFFF"/>
                          </a:solidFill>
                        </a:defRPr>
                      </a:pPr>
                      <a:r>
                        <a:t>Điểm giữa kỳ (X)</a:t>
                      </a:r>
                    </a:p>
                  </a:txBody>
                  <a:tcPr>
                    <a:solidFill>
                      <a:srgbClr val="1F497D"/>
                    </a:solidFill>
                  </a:tcPr>
                </a:tc>
                <a:tc>
                  <a:txBody>
                    <a:bodyPr/>
                    <a:lstStyle/>
                    <a:p>
                      <a:pPr algn="ctr">
                        <a:defRPr b="1" sz="1200">
                          <a:solidFill>
                            <a:srgbClr val="FFFFFF"/>
                          </a:solidFill>
                        </a:defRPr>
                      </a:pPr>
                      <a:r>
                        <a:t>Điểm cuối kỳ (Y)</a:t>
                      </a:r>
                    </a:p>
                  </a:txBody>
                  <a:tcPr>
                    <a:solidFill>
                      <a:srgbClr val="1F497D"/>
                    </a:solidFill>
                  </a:tcPr>
                </a:tc>
                <a:tc>
                  <a:txBody>
                    <a:bodyPr/>
                    <a:lstStyle/>
                    <a:p>
                      <a:pPr algn="ctr">
                        <a:defRPr b="1" sz="1200">
                          <a:solidFill>
                            <a:srgbClr val="FFFFFF"/>
                          </a:solidFill>
                        </a:defRPr>
                      </a:pPr>
                      <a:r>
                        <a:t>Chênh lệch (Y - X)</a:t>
                      </a:r>
                    </a:p>
                  </a:txBody>
                  <a:tcPr>
                    <a:solidFill>
                      <a:srgbClr val="1F497D"/>
                    </a:solidFill>
                  </a:tcPr>
                </a:tc>
              </a:tr>
              <a:tr h="457200">
                <a:tc>
                  <a:txBody>
                    <a:bodyPr/>
                    <a:lstStyle/>
                    <a:p>
                      <a:pPr>
                        <a:defRPr sz="1100"/>
                      </a:pPr>
                      <a:r>
                        <a:t>Cỡ mẫu (n)</a:t>
                      </a:r>
                    </a:p>
                  </a:txBody>
                  <a:tcPr/>
                </a:tc>
                <a:tc>
                  <a:txBody>
                    <a:bodyPr/>
                    <a:lstStyle/>
                    <a:p>
                      <a:pPr algn="r">
                        <a:defRPr sz="1100"/>
                      </a:pPr>
                      <a:r>
                        <a:t>32</a:t>
                      </a:r>
                    </a:p>
                  </a:txBody>
                  <a:tcPr/>
                </a:tc>
                <a:tc>
                  <a:txBody>
                    <a:bodyPr/>
                    <a:lstStyle/>
                    <a:p>
                      <a:pPr algn="r">
                        <a:defRPr sz="1100"/>
                      </a:pPr>
                      <a:r>
                        <a:t>32</a:t>
                      </a:r>
                    </a:p>
                  </a:txBody>
                  <a:tcPr/>
                </a:tc>
                <a:tc>
                  <a:txBody>
                    <a:bodyPr/>
                    <a:lstStyle/>
                    <a:p>
                      <a:pPr algn="r">
                        <a:defRPr sz="1100"/>
                      </a:pPr>
                      <a:r>
                        <a:t>0</a:t>
                      </a:r>
                    </a:p>
                  </a:txBody>
                  <a:tcPr/>
                </a:tc>
              </a:tr>
              <a:tr h="457200">
                <a:tc>
                  <a:txBody>
                    <a:bodyPr/>
                    <a:lstStyle/>
                    <a:p>
                      <a:pPr>
                        <a:defRPr sz="1100"/>
                      </a:pPr>
                      <a:r>
                        <a:t>Trung bình (Mean)</a:t>
                      </a:r>
                    </a:p>
                  </a:txBody>
                  <a:tcPr>
                    <a:solidFill>
                      <a:srgbClr val="F5F8FC"/>
                    </a:solidFill>
                  </a:tcPr>
                </a:tc>
                <a:tc>
                  <a:txBody>
                    <a:bodyPr/>
                    <a:lstStyle/>
                    <a:p>
                      <a:pPr algn="r">
                        <a:defRPr sz="1100"/>
                      </a:pPr>
                      <a:r>
                        <a:t>7.441</a:t>
                      </a:r>
                    </a:p>
                  </a:txBody>
                  <a:tcPr>
                    <a:solidFill>
                      <a:srgbClr val="F5F8FC"/>
                    </a:solidFill>
                  </a:tcPr>
                </a:tc>
                <a:tc>
                  <a:txBody>
                    <a:bodyPr/>
                    <a:lstStyle/>
                    <a:p>
                      <a:pPr algn="r">
                        <a:defRPr sz="1100"/>
                      </a:pPr>
                      <a:r>
                        <a:t>7.388</a:t>
                      </a:r>
                    </a:p>
                  </a:txBody>
                  <a:tcPr>
                    <a:solidFill>
                      <a:srgbClr val="F5F8FC"/>
                    </a:solidFill>
                  </a:tcPr>
                </a:tc>
                <a:tc>
                  <a:txBody>
                    <a:bodyPr/>
                    <a:lstStyle/>
                    <a:p>
                      <a:pPr algn="r">
                        <a:defRPr sz="1100"/>
                      </a:pPr>
                      <a:r>
                        <a:t>-0.053</a:t>
                      </a:r>
                    </a:p>
                  </a:txBody>
                  <a:tcPr>
                    <a:solidFill>
                      <a:srgbClr val="F5F8FC"/>
                    </a:solidFill>
                  </a:tcPr>
                </a:tc>
              </a:tr>
              <a:tr h="457200">
                <a:tc>
                  <a:txBody>
                    <a:bodyPr/>
                    <a:lstStyle/>
                    <a:p>
                      <a:pPr>
                        <a:defRPr sz="1100"/>
                      </a:pPr>
                      <a:r>
                        <a:t>Trung vị (Median)</a:t>
                      </a:r>
                    </a:p>
                  </a:txBody>
                  <a:tcPr/>
                </a:tc>
                <a:tc>
                  <a:txBody>
                    <a:bodyPr/>
                    <a:lstStyle/>
                    <a:p>
                      <a:pPr algn="r">
                        <a:defRPr sz="1100"/>
                      </a:pPr>
                      <a:r>
                        <a:t>7.500</a:t>
                      </a:r>
                    </a:p>
                  </a:txBody>
                  <a:tcPr/>
                </a:tc>
                <a:tc>
                  <a:txBody>
                    <a:bodyPr/>
                    <a:lstStyle/>
                    <a:p>
                      <a:pPr algn="r">
                        <a:defRPr sz="1100"/>
                      </a:pPr>
                      <a:r>
                        <a:t>7.450</a:t>
                      </a:r>
                    </a:p>
                  </a:txBody>
                  <a:tcPr/>
                </a:tc>
                <a:tc>
                  <a:txBody>
                    <a:bodyPr/>
                    <a:lstStyle/>
                    <a:p>
                      <a:pPr algn="r">
                        <a:defRPr sz="1100"/>
                      </a:pPr>
                      <a:r>
                        <a:t>-0.050</a:t>
                      </a:r>
                    </a:p>
                  </a:txBody>
                  <a:tcPr/>
                </a:tc>
              </a:tr>
              <a:tr h="457200">
                <a:tc>
                  <a:txBody>
                    <a:bodyPr/>
                    <a:lstStyle/>
                    <a:p>
                      <a:pPr>
                        <a:defRPr sz="1100"/>
                      </a:pPr>
                      <a:r>
                        <a:t>Phương sai mẫu (s², ddof=1)</a:t>
                      </a:r>
                    </a:p>
                  </a:txBody>
                  <a:tcPr>
                    <a:solidFill>
                      <a:srgbClr val="F5F8FC"/>
                    </a:solidFill>
                  </a:tcPr>
                </a:tc>
                <a:tc>
                  <a:txBody>
                    <a:bodyPr/>
                    <a:lstStyle/>
                    <a:p>
                      <a:pPr algn="r">
                        <a:defRPr sz="1100"/>
                      </a:pPr>
                      <a:r>
                        <a:t>1.487</a:t>
                      </a:r>
                    </a:p>
                  </a:txBody>
                  <a:tcPr>
                    <a:solidFill>
                      <a:srgbClr val="F5F8FC"/>
                    </a:solidFill>
                  </a:tcPr>
                </a:tc>
                <a:tc>
                  <a:txBody>
                    <a:bodyPr/>
                    <a:lstStyle/>
                    <a:p>
                      <a:pPr algn="r">
                        <a:defRPr sz="1100"/>
                      </a:pPr>
                      <a:r>
                        <a:t>1.515</a:t>
                      </a:r>
                    </a:p>
                  </a:txBody>
                  <a:tcPr>
                    <a:solidFill>
                      <a:srgbClr val="F5F8FC"/>
                    </a:solidFill>
                  </a:tcPr>
                </a:tc>
                <a:tc>
                  <a:txBody>
                    <a:bodyPr/>
                    <a:lstStyle/>
                    <a:p>
                      <a:pPr algn="r">
                        <a:defRPr sz="1100"/>
                      </a:pPr>
                      <a:r>
                        <a:t>+0.028</a:t>
                      </a:r>
                    </a:p>
                  </a:txBody>
                  <a:tcPr>
                    <a:solidFill>
                      <a:srgbClr val="F5F8FC"/>
                    </a:solidFill>
                  </a:tcPr>
                </a:tc>
              </a:tr>
              <a:tr h="457200">
                <a:tc>
                  <a:txBody>
                    <a:bodyPr/>
                    <a:lstStyle/>
                    <a:p>
                      <a:pPr>
                        <a:defRPr sz="1100"/>
                      </a:pPr>
                      <a:r>
                        <a:t>Độ lệch chuẩn mẫu (s, ddof=1)</a:t>
                      </a:r>
                    </a:p>
                  </a:txBody>
                  <a:tcPr/>
                </a:tc>
                <a:tc>
                  <a:txBody>
                    <a:bodyPr/>
                    <a:lstStyle/>
                    <a:p>
                      <a:pPr algn="r">
                        <a:defRPr sz="1100"/>
                      </a:pPr>
                      <a:r>
                        <a:t>1.219</a:t>
                      </a:r>
                    </a:p>
                  </a:txBody>
                  <a:tcPr/>
                </a:tc>
                <a:tc>
                  <a:txBody>
                    <a:bodyPr/>
                    <a:lstStyle/>
                    <a:p>
                      <a:pPr algn="r">
                        <a:defRPr sz="1100"/>
                      </a:pPr>
                      <a:r>
                        <a:t>1.231</a:t>
                      </a:r>
                    </a:p>
                  </a:txBody>
                  <a:tcPr/>
                </a:tc>
                <a:tc>
                  <a:txBody>
                    <a:bodyPr/>
                    <a:lstStyle/>
                    <a:p>
                      <a:pPr algn="r">
                        <a:defRPr sz="1100"/>
                      </a:pPr>
                      <a:r>
                        <a:t>+0.012</a:t>
                      </a:r>
                    </a:p>
                  </a:txBody>
                  <a:tcPr/>
                </a:tc>
              </a:tr>
              <a:tr h="457200">
                <a:tc>
                  <a:txBody>
                    <a:bodyPr/>
                    <a:lstStyle/>
                    <a:p>
                      <a:pPr>
                        <a:defRPr sz="1100"/>
                      </a:pPr>
                      <a:r>
                        <a:t>Giá trị nhỏ nhất (Min)</a:t>
                      </a:r>
                    </a:p>
                  </a:txBody>
                  <a:tcPr>
                    <a:solidFill>
                      <a:srgbClr val="F5F8FC"/>
                    </a:solidFill>
                  </a:tcPr>
                </a:tc>
                <a:tc>
                  <a:txBody>
                    <a:bodyPr/>
                    <a:lstStyle/>
                    <a:p>
                      <a:pPr algn="r">
                        <a:defRPr sz="1100"/>
                      </a:pPr>
                      <a:r>
                        <a:t>5.000</a:t>
                      </a:r>
                    </a:p>
                  </a:txBody>
                  <a:tcPr>
                    <a:solidFill>
                      <a:srgbClr val="F5F8FC"/>
                    </a:solidFill>
                  </a:tcPr>
                </a:tc>
                <a:tc>
                  <a:txBody>
                    <a:bodyPr/>
                    <a:lstStyle/>
                    <a:p>
                      <a:pPr algn="r">
                        <a:defRPr sz="1100"/>
                      </a:pPr>
                      <a:r>
                        <a:t>5.000</a:t>
                      </a:r>
                    </a:p>
                  </a:txBody>
                  <a:tcPr>
                    <a:solidFill>
                      <a:srgbClr val="F5F8FC"/>
                    </a:solidFill>
                  </a:tcPr>
                </a:tc>
                <a:tc>
                  <a:txBody>
                    <a:bodyPr/>
                    <a:lstStyle/>
                    <a:p>
                      <a:pPr algn="r">
                        <a:defRPr sz="1100"/>
                      </a:pPr>
                      <a:r>
                        <a:t>0.000</a:t>
                      </a:r>
                    </a:p>
                  </a:txBody>
                  <a:tcPr>
                    <a:solidFill>
                      <a:srgbClr val="F5F8FC"/>
                    </a:solidFill>
                  </a:tcPr>
                </a:tc>
              </a:tr>
              <a:tr h="457200">
                <a:tc>
                  <a:txBody>
                    <a:bodyPr/>
                    <a:lstStyle/>
                    <a:p>
                      <a:pPr>
                        <a:defRPr sz="1100"/>
                      </a:pPr>
                      <a:r>
                        <a:t>Tứ phân vị 1 (Q1, linear)</a:t>
                      </a:r>
                    </a:p>
                  </a:txBody>
                  <a:tcPr/>
                </a:tc>
                <a:tc>
                  <a:txBody>
                    <a:bodyPr/>
                    <a:lstStyle/>
                    <a:p>
                      <a:pPr algn="r">
                        <a:defRPr sz="1100"/>
                      </a:pPr>
                      <a:r>
                        <a:t>7.000</a:t>
                      </a:r>
                    </a:p>
                  </a:txBody>
                  <a:tcPr/>
                </a:tc>
                <a:tc>
                  <a:txBody>
                    <a:bodyPr/>
                    <a:lstStyle/>
                    <a:p>
                      <a:pPr algn="r">
                        <a:defRPr sz="1100"/>
                      </a:pPr>
                      <a:r>
                        <a:t>6.475</a:t>
                      </a:r>
                    </a:p>
                  </a:txBody>
                  <a:tcPr/>
                </a:tc>
                <a:tc>
                  <a:txBody>
                    <a:bodyPr/>
                    <a:lstStyle/>
                    <a:p>
                      <a:pPr algn="r">
                        <a:defRPr sz="1100"/>
                      </a:pPr>
                      <a:r>
                        <a:t>-0.525</a:t>
                      </a:r>
                    </a:p>
                  </a:txBody>
                  <a:tcPr/>
                </a:tc>
              </a:tr>
              <a:tr h="457200">
                <a:tc>
                  <a:txBody>
                    <a:bodyPr/>
                    <a:lstStyle/>
                    <a:p>
                      <a:pPr>
                        <a:defRPr sz="1100"/>
                      </a:pPr>
                      <a:r>
                        <a:t>Tứ phân vị 3 (Q3, linear)</a:t>
                      </a:r>
                    </a:p>
                  </a:txBody>
                  <a:tcPr>
                    <a:solidFill>
                      <a:srgbClr val="F5F8FC"/>
                    </a:solidFill>
                  </a:tcPr>
                </a:tc>
                <a:tc>
                  <a:txBody>
                    <a:bodyPr/>
                    <a:lstStyle/>
                    <a:p>
                      <a:pPr algn="r">
                        <a:defRPr sz="1100"/>
                      </a:pPr>
                      <a:r>
                        <a:t>8.050</a:t>
                      </a:r>
                    </a:p>
                  </a:txBody>
                  <a:tcPr>
                    <a:solidFill>
                      <a:srgbClr val="F5F8FC"/>
                    </a:solidFill>
                  </a:tcPr>
                </a:tc>
                <a:tc>
                  <a:txBody>
                    <a:bodyPr/>
                    <a:lstStyle/>
                    <a:p>
                      <a:pPr algn="r">
                        <a:defRPr sz="1100"/>
                      </a:pPr>
                      <a:r>
                        <a:t>8.025</a:t>
                      </a:r>
                    </a:p>
                  </a:txBody>
                  <a:tcPr>
                    <a:solidFill>
                      <a:srgbClr val="F5F8FC"/>
                    </a:solidFill>
                  </a:tcPr>
                </a:tc>
                <a:tc>
                  <a:txBody>
                    <a:bodyPr/>
                    <a:lstStyle/>
                    <a:p>
                      <a:pPr algn="r">
                        <a:defRPr sz="1100"/>
                      </a:pPr>
                      <a:r>
                        <a:t>-0.025</a:t>
                      </a:r>
                    </a:p>
                  </a:txBody>
                  <a:tcPr>
                    <a:solidFill>
                      <a:srgbClr val="F5F8FC"/>
                    </a:solidFill>
                  </a:tcPr>
                </a:tc>
              </a:tr>
              <a:tr h="457200">
                <a:tc>
                  <a:txBody>
                    <a:bodyPr/>
                    <a:lstStyle/>
                    <a:p>
                      <a:pPr>
                        <a:defRPr sz="1100"/>
                      </a:pPr>
                      <a:r>
                        <a:t>Khoảng tứ phân vị (IQR)</a:t>
                      </a:r>
                    </a:p>
                  </a:txBody>
                  <a:tcPr/>
                </a:tc>
                <a:tc>
                  <a:txBody>
                    <a:bodyPr/>
                    <a:lstStyle/>
                    <a:p>
                      <a:pPr algn="r">
                        <a:defRPr sz="1100"/>
                      </a:pPr>
                      <a:r>
                        <a:t>1.050</a:t>
                      </a:r>
                    </a:p>
                  </a:txBody>
                  <a:tcPr/>
                </a:tc>
                <a:tc>
                  <a:txBody>
                    <a:bodyPr/>
                    <a:lstStyle/>
                    <a:p>
                      <a:pPr algn="r">
                        <a:defRPr sz="1100"/>
                      </a:pPr>
                      <a:r>
                        <a:t>1.550</a:t>
                      </a:r>
                    </a:p>
                  </a:txBody>
                  <a:tcPr/>
                </a:tc>
                <a:tc>
                  <a:txBody>
                    <a:bodyPr/>
                    <a:lstStyle/>
                    <a:p>
                      <a:pPr algn="r">
                        <a:defRPr sz="1100"/>
                      </a:pPr>
                      <a:r>
                        <a:t>+0.500</a:t>
                      </a:r>
                    </a:p>
                  </a:txBody>
                  <a:tcPr/>
                </a:tc>
              </a:tr>
              <a:tr h="457200">
                <a:tc>
                  <a:txBody>
                    <a:bodyPr/>
                    <a:lstStyle/>
                    <a:p>
                      <a:pPr>
                        <a:defRPr sz="1100"/>
                      </a:pPr>
                      <a:r>
                        <a:t>Giá trị lớn nhất (Max)</a:t>
                      </a:r>
                    </a:p>
                  </a:txBody>
                  <a:tcPr>
                    <a:solidFill>
                      <a:srgbClr val="F5F8FC"/>
                    </a:solidFill>
                  </a:tcPr>
                </a:tc>
                <a:tc>
                  <a:txBody>
                    <a:bodyPr/>
                    <a:lstStyle/>
                    <a:p>
                      <a:pPr algn="r">
                        <a:defRPr sz="1100"/>
                      </a:pPr>
                      <a:r>
                        <a:t>9.500</a:t>
                      </a:r>
                    </a:p>
                  </a:txBody>
                  <a:tcPr>
                    <a:solidFill>
                      <a:srgbClr val="F5F8FC"/>
                    </a:solidFill>
                  </a:tcPr>
                </a:tc>
                <a:tc>
                  <a:txBody>
                    <a:bodyPr/>
                    <a:lstStyle/>
                    <a:p>
                      <a:pPr algn="r">
                        <a:defRPr sz="1100"/>
                      </a:pPr>
                      <a:r>
                        <a:t>10.000</a:t>
                      </a:r>
                    </a:p>
                  </a:txBody>
                  <a:tcPr>
                    <a:solidFill>
                      <a:srgbClr val="F5F8FC"/>
                    </a:solidFill>
                  </a:tcPr>
                </a:tc>
                <a:tc>
                  <a:txBody>
                    <a:bodyPr/>
                    <a:lstStyle/>
                    <a:p>
                      <a:pPr algn="r">
                        <a:defRPr sz="1100"/>
                      </a:pPr>
                      <a:r>
                        <a:t>+0.500</a:t>
                      </a:r>
                    </a:p>
                  </a:txBody>
                  <a:tcPr>
                    <a:solidFill>
                      <a:srgbClr val="F5F8FC"/>
                    </a:solidFill>
                  </a:tcPr>
                </a:tc>
              </a:tr>
            </a:tbl>
          </a:graphicData>
        </a:graphic>
      </p:graphicFrame>
      <p:sp>
        <p:nvSpPr>
          <p:cNvPr id="7" name="Rounded Rectangle 6"/>
          <p:cNvSpPr/>
          <p:nvPr/>
        </p:nvSpPr>
        <p:spPr>
          <a:xfrm>
            <a:off x="8321040" y="1280160"/>
            <a:ext cx="3108960" cy="5029200"/>
          </a:xfrm>
          <a:prstGeom prst="roundRect">
            <a:avLst/>
          </a:prstGeom>
          <a:solidFill>
            <a:srgbClr val="F5F8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1F497D"/>
                </a:solidFill>
              </a:defRPr>
            </a:pPr>
            <a:r>
              <a:t>Lý Luận Học Thuật</a:t>
            </a:r>
          </a:p>
          <a:p>
            <a:pPr>
              <a:spcBef>
                <a:spcPts val="800"/>
              </a:spcBef>
              <a:defRPr sz="1150">
                <a:solidFill>
                  <a:srgbClr val="232323"/>
                </a:solidFill>
              </a:defRPr>
            </a:pPr>
            <a:r>
              <a:t>• Phương pháp tính phân vị: Dùng phương pháp 'linear' (Type 7) chuẩn xác và nhất quán.</a:t>
            </a:r>
          </a:p>
          <a:p>
            <a:pPr>
              <a:spcBef>
                <a:spcPts val="800"/>
              </a:spcBef>
              <a:defRPr sz="1150">
                <a:solidFill>
                  <a:srgbClr val="232323"/>
                </a:solidFill>
              </a:defRPr>
            </a:pPr>
            <a:r>
              <a:t>• Độ lệch chuẩn ddof = 1: Đảm bảo tính không chệch của phương sai mẫu.</a:t>
            </a:r>
          </a:p>
          <a:p>
            <a:pPr>
              <a:spcBef>
                <a:spcPts val="800"/>
              </a:spcBef>
              <a:defRPr sz="1150">
                <a:solidFill>
                  <a:srgbClr val="232323"/>
                </a:solidFill>
              </a:defRPr>
            </a:pPr>
            <a:r>
              <a:t>• Khi nào Median tốt hơn Mean?:</a:t>
            </a:r>
          </a:p>
          <a:p>
            <a:pPr>
              <a:spcBef>
                <a:spcPts val="800"/>
              </a:spcBef>
              <a:defRPr sz="1150">
                <a:solidFill>
                  <a:srgbClr val="232323"/>
                </a:solidFill>
              </a:defRPr>
            </a:pPr>
            <a:r>
              <a:t>  - Khi phân phối có độ lệch mạnh (Skewed) do đề thi quá khó hoặc quá dễ.</a:t>
            </a:r>
          </a:p>
          <a:p>
            <a:pPr>
              <a:spcBef>
                <a:spcPts val="800"/>
              </a:spcBef>
              <a:defRPr sz="1150">
                <a:solidFill>
                  <a:srgbClr val="232323"/>
                </a:solidFill>
              </a:defRPr>
            </a:pPr>
            <a:r>
              <a:t>  - Khi có điểm ngoại lệ cực đoan (như sinh viên bị điểm 0 do bỏ thi). Mean sẽ bị kéo lệch, trong khi Median giữ nguyên sự ổn định.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8229600" cy="320040"/>
          </a:xfrm>
          <a:prstGeom prst="rect">
            <a:avLst/>
          </a:prstGeom>
          <a:noFill/>
        </p:spPr>
        <p:txBody>
          <a:bodyPr wrap="square">
            <a:spAutoFit/>
          </a:bodyPr>
          <a:lstStyle/>
          <a:p>
            <a:pPr>
              <a:defRPr sz="1100" b="1">
                <a:solidFill>
                  <a:srgbClr val="C8E1FF"/>
                </a:solidFill>
              </a:defRPr>
            </a:pPr>
            <a:r>
              <a:t>CÂU 4 — PHÂN PHỐI &amp; NGOẠI LỆ</a:t>
            </a:r>
          </a:p>
        </p:txBody>
      </p:sp>
      <p:sp>
        <p:nvSpPr>
          <p:cNvPr id="4" name="TextBox 3"/>
          <p:cNvSpPr txBox="1"/>
          <p:nvPr/>
        </p:nvSpPr>
        <p:spPr>
          <a:xfrm>
            <a:off x="731520" y="384048"/>
            <a:ext cx="8686800" cy="594360"/>
          </a:xfrm>
          <a:prstGeom prst="rect">
            <a:avLst/>
          </a:prstGeom>
          <a:noFill/>
        </p:spPr>
        <p:txBody>
          <a:bodyPr wrap="square">
            <a:spAutoFit/>
          </a:bodyPr>
          <a:lstStyle/>
          <a:p>
            <a:pPr>
              <a:defRPr sz="2100" b="1">
                <a:solidFill>
                  <a:srgbClr val="FFFFFF"/>
                </a:solidFill>
              </a:defRPr>
            </a:pPr>
            <a:r>
              <a:t>3. Phân Phối Dữ Liệu và Phân Tích Ngoại Lệ 1.5 IQR</a:t>
            </a:r>
          </a:p>
        </p:txBody>
      </p:sp>
      <p:sp>
        <p:nvSpPr>
          <p:cNvPr id="5" name="Rounded Rectangle 4"/>
          <p:cNvSpPr/>
          <p:nvPr/>
        </p:nvSpPr>
        <p:spPr>
          <a:xfrm>
            <a:off x="9601200" y="320040"/>
            <a:ext cx="2011680" cy="457200"/>
          </a:xfrm>
          <a:prstGeom prst="round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Nguyễn Hữu Hoàng Thắng (DE200281)</a:t>
            </a:r>
          </a:p>
        </p:txBody>
      </p:sp>
      <p:pic>
        <p:nvPicPr>
          <p:cNvPr id="6" name="Picture 5" descr="fig1_histograms.png"/>
          <p:cNvPicPr>
            <a:picLocks noChangeAspect="1"/>
          </p:cNvPicPr>
          <p:nvPr/>
        </p:nvPicPr>
        <p:blipFill>
          <a:blip r:embed="rId2"/>
          <a:stretch>
            <a:fillRect/>
          </a:stretch>
        </p:blipFill>
        <p:spPr>
          <a:xfrm>
            <a:off x="731520" y="1280160"/>
            <a:ext cx="5486400" cy="2259106"/>
          </a:xfrm>
          <a:prstGeom prst="rect">
            <a:avLst/>
          </a:prstGeom>
        </p:spPr>
      </p:pic>
      <p:pic>
        <p:nvPicPr>
          <p:cNvPr id="7" name="Picture 6" descr="fig2_boxplots.png"/>
          <p:cNvPicPr>
            <a:picLocks noChangeAspect="1"/>
          </p:cNvPicPr>
          <p:nvPr/>
        </p:nvPicPr>
        <p:blipFill>
          <a:blip r:embed="rId3"/>
          <a:stretch>
            <a:fillRect/>
          </a:stretch>
        </p:blipFill>
        <p:spPr>
          <a:xfrm>
            <a:off x="6400800" y="1280160"/>
            <a:ext cx="5029200" cy="3755985"/>
          </a:xfrm>
          <a:prstGeom prst="rect">
            <a:avLst/>
          </a:prstGeom>
        </p:spPr>
      </p:pic>
      <p:sp>
        <p:nvSpPr>
          <p:cNvPr id="8" name="Rectangle 7"/>
          <p:cNvSpPr/>
          <p:nvPr/>
        </p:nvSpPr>
        <p:spPr>
          <a:xfrm>
            <a:off x="731520" y="5120640"/>
            <a:ext cx="10698480" cy="1371600"/>
          </a:xfrm>
          <a:prstGeom prst="rect">
            <a:avLst/>
          </a:prstGeom>
          <a:solidFill>
            <a:srgbClr val="F5F8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1F497D"/>
                </a:solidFill>
              </a:defRPr>
            </a:pPr>
            <a:r>
              <a:t>Đánh giá theo Quy tắc 1.5 IQR và Nguyên tắc Đạo đức Thống kê:</a:t>
            </a:r>
          </a:p>
          <a:p>
            <a:pPr>
              <a:spcBef>
                <a:spcPts val="400"/>
              </a:spcBef>
              <a:defRPr sz="1150">
                <a:solidFill>
                  <a:srgbClr val="232323"/>
                </a:solidFill>
              </a:defRPr>
            </a:pPr>
            <a:r>
              <a:t>• Ngưỡng ngoại lệ X: Lower = 5.425, Upper = 9.625. Toàn bộ điểm giữa kỳ và cuối kỳ thực tế đều nằm trong khoảng an toàn [5.0, 10.0].</a:t>
            </a:r>
            <a:br/>
            <a:r>
              <a:t>• Không có điểm ngoại lệ dị biệt bất thường trong mẫu.</a:t>
            </a:r>
            <a:br/>
            <a:r>
              <a:t>• Nguyên tắc bắt buộc: Nếu có ngoại lệ thực tế trong thang [0, 10], TUYỆT ĐỐI KHÔNG TỰ ĐỘNG XÓA vì đó là phản ánh năng lực thật của người học.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8229600" cy="320040"/>
          </a:xfrm>
          <a:prstGeom prst="rect">
            <a:avLst/>
          </a:prstGeom>
          <a:noFill/>
        </p:spPr>
        <p:txBody>
          <a:bodyPr wrap="square">
            <a:spAutoFit/>
          </a:bodyPr>
          <a:lstStyle/>
          <a:p>
            <a:pPr>
              <a:defRPr sz="1100" b="1">
                <a:solidFill>
                  <a:srgbClr val="C8E1FF"/>
                </a:solidFill>
              </a:defRPr>
            </a:pPr>
            <a:r>
              <a:t>CÂU 5 — MỐI LIÊN HỆ BAN ĐẦU</a:t>
            </a:r>
          </a:p>
        </p:txBody>
      </p:sp>
      <p:sp>
        <p:nvSpPr>
          <p:cNvPr id="4" name="TextBox 3"/>
          <p:cNvSpPr txBox="1"/>
          <p:nvPr/>
        </p:nvSpPr>
        <p:spPr>
          <a:xfrm>
            <a:off x="731520" y="384048"/>
            <a:ext cx="8686800" cy="594360"/>
          </a:xfrm>
          <a:prstGeom prst="rect">
            <a:avLst/>
          </a:prstGeom>
          <a:noFill/>
        </p:spPr>
        <p:txBody>
          <a:bodyPr wrap="square">
            <a:spAutoFit/>
          </a:bodyPr>
          <a:lstStyle/>
          <a:p>
            <a:pPr>
              <a:defRPr sz="2100" b="1">
                <a:solidFill>
                  <a:srgbClr val="FFFFFF"/>
                </a:solidFill>
              </a:defRPr>
            </a:pPr>
            <a:r>
              <a:t>4. Tương Quan Tuyến Tính Pearson &amp; Biểu Đồ Phân Tán</a:t>
            </a:r>
          </a:p>
        </p:txBody>
      </p:sp>
      <p:sp>
        <p:nvSpPr>
          <p:cNvPr id="5" name="Rounded Rectangle 4"/>
          <p:cNvSpPr/>
          <p:nvPr/>
        </p:nvSpPr>
        <p:spPr>
          <a:xfrm>
            <a:off x="9601200" y="320040"/>
            <a:ext cx="2011680" cy="457200"/>
          </a:xfrm>
          <a:prstGeom prst="round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Trần Đức Duy (DE180206)</a:t>
            </a:r>
          </a:p>
        </p:txBody>
      </p:sp>
      <p:pic>
        <p:nvPicPr>
          <p:cNvPr id="6" name="Picture 5" descr="fig3_scatterplot.png"/>
          <p:cNvPicPr>
            <a:picLocks noChangeAspect="1"/>
          </p:cNvPicPr>
          <p:nvPr/>
        </p:nvPicPr>
        <p:blipFill>
          <a:blip r:embed="rId2"/>
          <a:stretch>
            <a:fillRect/>
          </a:stretch>
        </p:blipFill>
        <p:spPr>
          <a:xfrm>
            <a:off x="731520" y="1280160"/>
            <a:ext cx="5669280" cy="4234019"/>
          </a:xfrm>
          <a:prstGeom prst="rect">
            <a:avLst/>
          </a:prstGeom>
        </p:spPr>
      </p:pic>
      <p:sp>
        <p:nvSpPr>
          <p:cNvPr id="7" name="Rounded Rectangle 6"/>
          <p:cNvSpPr/>
          <p:nvPr/>
        </p:nvSpPr>
        <p:spPr>
          <a:xfrm>
            <a:off x="6675120" y="1280160"/>
            <a:ext cx="4754880" cy="5029200"/>
          </a:xfrm>
          <a:prstGeom prst="roundRect">
            <a:avLst/>
          </a:prstGeom>
          <a:solidFill>
            <a:srgbClr val="F5F8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600">
                <a:solidFill>
                  <a:srgbClr val="1F497D"/>
                </a:solidFill>
              </a:defRPr>
            </a:pPr>
            <a:r>
              <a:t>Kết Quả Phân Tích Tương Quan Pearson</a:t>
            </a:r>
          </a:p>
          <a:p>
            <a:pPr>
              <a:spcBef>
                <a:spcPts val="800"/>
              </a:spcBef>
            </a:pPr>
            <a:r>
              <a:rPr b="1" sz="1200">
                <a:solidFill>
                  <a:srgbClr val="232323"/>
                </a:solidFill>
              </a:rPr>
              <a:t>• Hệ số tương quan r: </a:t>
            </a:r>
            <a:r>
              <a:rPr sz="1200">
                <a:solidFill>
                  <a:srgbClr val="232323"/>
                </a:solidFill>
              </a:rPr>
              <a:t>r = +0.4954</a:t>
            </a:r>
          </a:p>
          <a:p>
            <a:pPr>
              <a:spcBef>
                <a:spcPts val="800"/>
              </a:spcBef>
            </a:pPr>
            <a:r>
              <a:rPr b="1" sz="1200">
                <a:solidFill>
                  <a:srgbClr val="232323"/>
                </a:solidFill>
              </a:rPr>
              <a:t>• p-value kiểm định r: </a:t>
            </a:r>
            <a:r>
              <a:rPr sz="1200">
                <a:solidFill>
                  <a:srgbClr val="232323"/>
                </a:solidFill>
              </a:rPr>
              <a:t>p = 0.0039 (&lt; 0.01 — Rất có ý nghĩa thống kê)</a:t>
            </a:r>
          </a:p>
          <a:p>
            <a:pPr>
              <a:spcBef>
                <a:spcPts val="800"/>
              </a:spcBef>
            </a:pPr>
            <a:r>
              <a:rPr b="1" sz="1200">
                <a:solidFill>
                  <a:srgbClr val="232323"/>
                </a:solidFill>
              </a:rPr>
              <a:t>• Chiều hướng liên hệ: </a:t>
            </a:r>
            <a:r>
              <a:rPr sz="1200">
                <a:solidFill>
                  <a:srgbClr val="232323"/>
                </a:solidFill>
              </a:rPr>
              <a:t>Tương quan thuận (Positive Correlation): Sinh viên đạt điểm giữa kỳ cao nhìn chung đạt điểm cuối kỳ cao.</a:t>
            </a:r>
          </a:p>
          <a:p>
            <a:pPr>
              <a:spcBef>
                <a:spcPts val="800"/>
              </a:spcBef>
            </a:pPr>
            <a:r>
              <a:rPr b="1" sz="1200">
                <a:solidFill>
                  <a:srgbClr val="232323"/>
                </a:solidFill>
              </a:rPr>
              <a:t>• Mức độ liên hệ: </a:t>
            </a:r>
            <a:r>
              <a:rPr sz="1200">
                <a:solidFill>
                  <a:srgbClr val="232323"/>
                </a:solidFill>
              </a:rPr>
              <a:t>Mức độ trung bình - khá (0.40 &lt;= |r| &lt; 0.70).</a:t>
            </a:r>
          </a:p>
          <a:p>
            <a:pPr>
              <a:spcBef>
                <a:spcPts val="800"/>
              </a:spcBef>
            </a:pPr>
            <a:r>
              <a:rPr b="1" sz="1200">
                <a:solidFill>
                  <a:srgbClr val="232323"/>
                </a:solidFill>
              </a:rPr>
              <a:t>• Đám mây điểm scatterplot: </a:t>
            </a:r>
            <a:r>
              <a:rPr sz="1200">
                <a:solidFill>
                  <a:srgbClr val="232323"/>
                </a:solidFill>
              </a:rPr>
              <a:t>Phân bố tập trung dốc lên dọc đường chéo, khẳng định dạng quan hệ tuyến tính ban đầu là hợp lý.</a:t>
            </a:r>
          </a:p>
          <a:p>
            <a:pPr>
              <a:spcBef>
                <a:spcPts val="800"/>
              </a:spcBef>
            </a:pPr>
            <a:r>
              <a:rPr b="1" sz="1200">
                <a:solidFill>
                  <a:srgbClr val="1F497D"/>
                </a:solidFill>
              </a:rPr>
              <a:t>• CẢNH BÁO NHÂN QUẢ: </a:t>
            </a:r>
            <a:r>
              <a:rPr sz="1200">
                <a:solidFill>
                  <a:srgbClr val="232323"/>
                </a:solidFill>
              </a:rPr>
              <a:t>Tương quan Pearson thuần túy đo lường mức độ đồng biến tuyến tính, KHÔNG CHỨNG MINH quan hệ nhân quả. Điểm giữa kỳ cao không trực tiếp 'gây ra' điểm cuối kỳ cao.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8229600" cy="320040"/>
          </a:xfrm>
          <a:prstGeom prst="rect">
            <a:avLst/>
          </a:prstGeom>
          <a:noFill/>
        </p:spPr>
        <p:txBody>
          <a:bodyPr wrap="square">
            <a:spAutoFit/>
          </a:bodyPr>
          <a:lstStyle/>
          <a:p>
            <a:pPr>
              <a:defRPr sz="1100" b="1">
                <a:solidFill>
                  <a:srgbClr val="C8E1FF"/>
                </a:solidFill>
              </a:defRPr>
            </a:pPr>
            <a:r>
              <a:t>CÂU 6 &amp; 7 — ƯỚC LƯỢNG OLS</a:t>
            </a:r>
          </a:p>
        </p:txBody>
      </p:sp>
      <p:sp>
        <p:nvSpPr>
          <p:cNvPr id="4" name="TextBox 3"/>
          <p:cNvSpPr txBox="1"/>
          <p:nvPr/>
        </p:nvSpPr>
        <p:spPr>
          <a:xfrm>
            <a:off x="731520" y="384048"/>
            <a:ext cx="8686800" cy="594360"/>
          </a:xfrm>
          <a:prstGeom prst="rect">
            <a:avLst/>
          </a:prstGeom>
          <a:noFill/>
        </p:spPr>
        <p:txBody>
          <a:bodyPr wrap="square">
            <a:spAutoFit/>
          </a:bodyPr>
          <a:lstStyle/>
          <a:p>
            <a:pPr>
              <a:defRPr sz="2100" b="1">
                <a:solidFill>
                  <a:srgbClr val="FFFFFF"/>
                </a:solidFill>
              </a:defRPr>
            </a:pPr>
            <a:r>
              <a:t>5. Mô Hình Hồi Quy Tuyến Tính Đơn OLS &amp; Độ Phù Hợp</a:t>
            </a:r>
          </a:p>
        </p:txBody>
      </p:sp>
      <p:sp>
        <p:nvSpPr>
          <p:cNvPr id="5" name="Rounded Rectangle 4"/>
          <p:cNvSpPr/>
          <p:nvPr/>
        </p:nvSpPr>
        <p:spPr>
          <a:xfrm>
            <a:off x="9601200" y="320040"/>
            <a:ext cx="2011680" cy="457200"/>
          </a:xfrm>
          <a:prstGeom prst="round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Trần Đức Duy (DE180206)</a:t>
            </a:r>
          </a:p>
        </p:txBody>
      </p:sp>
      <p:pic>
        <p:nvPicPr>
          <p:cNvPr id="6" name="Picture 5" descr="fig4_regression_fit.png"/>
          <p:cNvPicPr>
            <a:picLocks noChangeAspect="1"/>
          </p:cNvPicPr>
          <p:nvPr/>
        </p:nvPicPr>
        <p:blipFill>
          <a:blip r:embed="rId2"/>
          <a:stretch>
            <a:fillRect/>
          </a:stretch>
        </p:blipFill>
        <p:spPr>
          <a:xfrm>
            <a:off x="731520" y="1280160"/>
            <a:ext cx="5669280" cy="3981994"/>
          </a:xfrm>
          <a:prstGeom prst="rect">
            <a:avLst/>
          </a:prstGeom>
        </p:spPr>
      </p:pic>
      <p:sp>
        <p:nvSpPr>
          <p:cNvPr id="7" name="Rounded Rectangle 6"/>
          <p:cNvSpPr/>
          <p:nvPr/>
        </p:nvSpPr>
        <p:spPr>
          <a:xfrm>
            <a:off x="6675120" y="1280160"/>
            <a:ext cx="4754880" cy="5029200"/>
          </a:xfrm>
          <a:prstGeom prst="roundRect">
            <a:avLst/>
          </a:prstGeom>
          <a:solidFill>
            <a:srgbClr val="F5F8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600">
                <a:solidFill>
                  <a:srgbClr val="1F497D"/>
                </a:solidFill>
              </a:defRPr>
            </a:pPr>
            <a:r>
              <a:t>Phương Trình Hồi Quy Ước Lượng (OLS)</a:t>
            </a:r>
          </a:p>
          <a:p>
            <a:pPr>
              <a:spcBef>
                <a:spcPts val="800"/>
              </a:spcBef>
              <a:defRPr b="1" sz="1600">
                <a:solidFill>
                  <a:srgbClr val="2980B9"/>
                </a:solidFill>
              </a:defRPr>
            </a:pPr>
            <a:r>
              <a:t>Y_hat = 3.6676 + 0.4999 * X</a:t>
            </a:r>
          </a:p>
          <a:p>
            <a:pPr>
              <a:spcBef>
                <a:spcPts val="800"/>
              </a:spcBef>
            </a:pPr>
            <a:r>
              <a:rPr b="1" sz="1200">
                <a:solidFill>
                  <a:srgbClr val="232323"/>
                </a:solidFill>
              </a:rPr>
              <a:t>• Hệ số góc b1 = 0.4999: </a:t>
            </a:r>
            <a:r>
              <a:rPr sz="1200">
                <a:solidFill>
                  <a:srgbClr val="232323"/>
                </a:solidFill>
              </a:rPr>
              <a:t>Khi điểm giữa kỳ tăng 1.0 điểm, điểm cuối kỳ dự đoán tăng trung bình 0.500 điểm.</a:t>
            </a:r>
          </a:p>
          <a:p>
            <a:pPr>
              <a:spcBef>
                <a:spcPts val="800"/>
              </a:spcBef>
            </a:pPr>
            <a:r>
              <a:rPr b="1" sz="1200">
                <a:solidFill>
                  <a:srgbClr val="232323"/>
                </a:solidFill>
              </a:rPr>
              <a:t>• Hệ số chặn b0 = 3.6676: </a:t>
            </a:r>
            <a:r>
              <a:rPr sz="1200">
                <a:solidFill>
                  <a:srgbClr val="232323"/>
                </a:solidFill>
              </a:rPr>
              <a:t>Về toán học là điểm cuối kỳ khi X = 0. Không mang ý nghĩa thực tế độc lập vì không có sinh viên đạt 0 điểm trong mẫu.</a:t>
            </a:r>
          </a:p>
          <a:p>
            <a:pPr>
              <a:spcBef>
                <a:spcPts val="800"/>
              </a:spcBef>
            </a:pPr>
            <a:r>
              <a:rPr b="1" sz="1200">
                <a:solidFill>
                  <a:srgbClr val="232323"/>
                </a:solidFill>
              </a:rPr>
              <a:t>• Hệ số xác định R² = 0.2454: </a:t>
            </a:r>
            <a:r>
              <a:rPr sz="1200">
                <a:solidFill>
                  <a:srgbClr val="232323"/>
                </a:solidFill>
              </a:rPr>
              <a:t>Điểm giữa kỳ giải thích được 24.5% biến thiên của điểm thi cuối kỳ (75.5% còn lại do các yếu tố ngoài mô hình).</a:t>
            </a:r>
          </a:p>
          <a:p>
            <a:pPr>
              <a:spcBef>
                <a:spcPts val="800"/>
              </a:spcBef>
            </a:pPr>
            <a:r>
              <a:rPr b="1" sz="1200">
                <a:solidFill>
                  <a:srgbClr val="232323"/>
                </a:solidFill>
              </a:rPr>
              <a:t>• Sai số chuẩn hồi quy s = 1.0868: </a:t>
            </a:r>
            <a:r>
              <a:rPr sz="1200">
                <a:solidFill>
                  <a:srgbClr val="232323"/>
                </a:solidFill>
              </a:rPr>
              <a:t>Mức phân tán sai lệch điển hình quanh đường hồi quy là khoảng 1.09 điểm.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8229600" cy="320040"/>
          </a:xfrm>
          <a:prstGeom prst="rect">
            <a:avLst/>
          </a:prstGeom>
          <a:noFill/>
        </p:spPr>
        <p:txBody>
          <a:bodyPr wrap="square">
            <a:spAutoFit/>
          </a:bodyPr>
          <a:lstStyle/>
          <a:p>
            <a:pPr>
              <a:defRPr sz="1100" b="1">
                <a:solidFill>
                  <a:srgbClr val="C8E1FF"/>
                </a:solidFill>
              </a:defRPr>
            </a:pPr>
            <a:r>
              <a:t>CÂU 8 — CHẨN ĐOÁN PHẦN DƯ</a:t>
            </a:r>
          </a:p>
        </p:txBody>
      </p:sp>
      <p:sp>
        <p:nvSpPr>
          <p:cNvPr id="4" name="TextBox 3"/>
          <p:cNvSpPr txBox="1"/>
          <p:nvPr/>
        </p:nvSpPr>
        <p:spPr>
          <a:xfrm>
            <a:off x="731520" y="384048"/>
            <a:ext cx="8686800" cy="594360"/>
          </a:xfrm>
          <a:prstGeom prst="rect">
            <a:avLst/>
          </a:prstGeom>
          <a:noFill/>
        </p:spPr>
        <p:txBody>
          <a:bodyPr wrap="square">
            <a:spAutoFit/>
          </a:bodyPr>
          <a:lstStyle/>
          <a:p>
            <a:pPr>
              <a:defRPr sz="2100" b="1">
                <a:solidFill>
                  <a:srgbClr val="FFFFFF"/>
                </a:solidFill>
              </a:defRPr>
            </a:pPr>
            <a:r>
              <a:t>6. Chẩn Đoán Giả Định Gauss-Markov Trên Phần Dư</a:t>
            </a:r>
          </a:p>
        </p:txBody>
      </p:sp>
      <p:sp>
        <p:nvSpPr>
          <p:cNvPr id="5" name="Rounded Rectangle 4"/>
          <p:cNvSpPr/>
          <p:nvPr/>
        </p:nvSpPr>
        <p:spPr>
          <a:xfrm>
            <a:off x="9601200" y="320040"/>
            <a:ext cx="2011680" cy="457200"/>
          </a:xfrm>
          <a:prstGeom prst="round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Phan Dương Sinh (DE200235)</a:t>
            </a:r>
          </a:p>
        </p:txBody>
      </p:sp>
      <p:pic>
        <p:nvPicPr>
          <p:cNvPr id="6" name="Picture 5" descr="fig5_diagnostics.png"/>
          <p:cNvPicPr>
            <a:picLocks noChangeAspect="1"/>
          </p:cNvPicPr>
          <p:nvPr/>
        </p:nvPicPr>
        <p:blipFill>
          <a:blip r:embed="rId2"/>
          <a:stretch>
            <a:fillRect/>
          </a:stretch>
        </p:blipFill>
        <p:spPr>
          <a:xfrm>
            <a:off x="731520" y="1234440"/>
            <a:ext cx="10698480" cy="3262138"/>
          </a:xfrm>
          <a:prstGeom prst="rect">
            <a:avLst/>
          </a:prstGeom>
        </p:spPr>
      </p:pic>
      <p:sp>
        <p:nvSpPr>
          <p:cNvPr id="7" name="Rounded Rectangle 6"/>
          <p:cNvSpPr/>
          <p:nvPr/>
        </p:nvSpPr>
        <p:spPr>
          <a:xfrm>
            <a:off x="731520" y="5029200"/>
            <a:ext cx="2468880" cy="1463040"/>
          </a:xfrm>
          <a:prstGeom prst="roundRect">
            <a:avLst/>
          </a:prstGeom>
          <a:solidFill>
            <a:srgbClr val="F5F8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100">
                <a:solidFill>
                  <a:srgbClr val="1F497D"/>
                </a:solidFill>
              </a:defRPr>
            </a:pPr>
            <a:r>
              <a:t>1. Tuyến tính (Linearity)</a:t>
            </a:r>
          </a:p>
          <a:p>
            <a:pPr>
              <a:defRPr b="1" sz="1100">
                <a:solidFill>
                  <a:srgbClr val="27AE60"/>
                </a:solidFill>
              </a:defRPr>
            </a:pPr>
            <a:r>
              <a:t>F-test p = 0.697 &gt; 0.05</a:t>
            </a:r>
          </a:p>
          <a:p>
            <a:pPr>
              <a:defRPr sz="950">
                <a:solidFill>
                  <a:srgbClr val="232323"/>
                </a:solidFill>
              </a:defRPr>
            </a:pPr>
            <a:r>
              <a:t>Dạng tuyến tính hoàn toàn phù hợp, không cong parabol.</a:t>
            </a:r>
          </a:p>
        </p:txBody>
      </p:sp>
      <p:sp>
        <p:nvSpPr>
          <p:cNvPr id="8" name="Rounded Rectangle 7"/>
          <p:cNvSpPr/>
          <p:nvPr/>
        </p:nvSpPr>
        <p:spPr>
          <a:xfrm>
            <a:off x="3429000" y="5029200"/>
            <a:ext cx="2468880" cy="1463040"/>
          </a:xfrm>
          <a:prstGeom prst="roundRect">
            <a:avLst/>
          </a:prstGeom>
          <a:solidFill>
            <a:srgbClr val="F5F8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100">
                <a:solidFill>
                  <a:srgbClr val="1F497D"/>
                </a:solidFill>
              </a:defRPr>
            </a:pPr>
            <a:r>
              <a:t>2. Homoscedasticity</a:t>
            </a:r>
          </a:p>
          <a:p>
            <a:pPr>
              <a:defRPr b="1" sz="1100">
                <a:solidFill>
                  <a:srgbClr val="27AE60"/>
                </a:solidFill>
              </a:defRPr>
            </a:pPr>
            <a:r>
              <a:t>Breusch-Pagan p = 0.835 &gt; 0.05</a:t>
            </a:r>
          </a:p>
          <a:p>
            <a:pPr>
              <a:defRPr sz="950">
                <a:solidFill>
                  <a:srgbClr val="232323"/>
                </a:solidFill>
              </a:defRPr>
            </a:pPr>
            <a:r>
              <a:t>Phương sai sai số đồng nhất, không xuất hiện hình phễu.</a:t>
            </a:r>
          </a:p>
        </p:txBody>
      </p:sp>
      <p:sp>
        <p:nvSpPr>
          <p:cNvPr id="9" name="Rounded Rectangle 8"/>
          <p:cNvSpPr/>
          <p:nvPr/>
        </p:nvSpPr>
        <p:spPr>
          <a:xfrm>
            <a:off x="6126480" y="5029200"/>
            <a:ext cx="2468880" cy="1463040"/>
          </a:xfrm>
          <a:prstGeom prst="roundRect">
            <a:avLst/>
          </a:prstGeom>
          <a:solidFill>
            <a:srgbClr val="F5F8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100">
                <a:solidFill>
                  <a:srgbClr val="1F497D"/>
                </a:solidFill>
              </a:defRPr>
            </a:pPr>
            <a:r>
              <a:t>3. Phân phối chuẩn</a:t>
            </a:r>
          </a:p>
          <a:p>
            <a:pPr>
              <a:defRPr b="1" sz="1100">
                <a:solidFill>
                  <a:srgbClr val="27AE60"/>
                </a:solidFill>
              </a:defRPr>
            </a:pPr>
            <a:r>
              <a:t>Shapiro-Wilk p = 0.216 &gt; 0.05</a:t>
            </a:r>
          </a:p>
          <a:p>
            <a:pPr>
              <a:defRPr sz="950">
                <a:solidFill>
                  <a:srgbClr val="232323"/>
                </a:solidFill>
              </a:defRPr>
            </a:pPr>
            <a:r>
              <a:t>Phần dư tuân theo phân phối chuẩn, Q-Q bám sát đường thẳng.</a:t>
            </a:r>
          </a:p>
        </p:txBody>
      </p:sp>
      <p:sp>
        <p:nvSpPr>
          <p:cNvPr id="10" name="Rounded Rectangle 9"/>
          <p:cNvSpPr/>
          <p:nvPr/>
        </p:nvSpPr>
        <p:spPr>
          <a:xfrm>
            <a:off x="8823960" y="5029200"/>
            <a:ext cx="2468880" cy="1463040"/>
          </a:xfrm>
          <a:prstGeom prst="roundRect">
            <a:avLst/>
          </a:prstGeom>
          <a:solidFill>
            <a:srgbClr val="F5F8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100">
                <a:solidFill>
                  <a:srgbClr val="1F497D"/>
                </a:solidFill>
              </a:defRPr>
            </a:pPr>
            <a:r>
              <a:t>4. Tính độc lập</a:t>
            </a:r>
          </a:p>
          <a:p>
            <a:pPr>
              <a:defRPr b="1" sz="1100">
                <a:solidFill>
                  <a:srgbClr val="27AE60"/>
                </a:solidFill>
              </a:defRPr>
            </a:pPr>
            <a:r>
              <a:t>Durbin-Watson DW = 1.942</a:t>
            </a:r>
          </a:p>
          <a:p>
            <a:pPr>
              <a:defRPr sz="950">
                <a:solidFill>
                  <a:srgbClr val="232323"/>
                </a:solidFill>
              </a:defRPr>
            </a:pPr>
            <a:r>
              <a:t>Không có tự tương quan bậc một (DW xấp xỉ mức lý tưởng 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8229600" cy="320040"/>
          </a:xfrm>
          <a:prstGeom prst="rect">
            <a:avLst/>
          </a:prstGeom>
          <a:noFill/>
        </p:spPr>
        <p:txBody>
          <a:bodyPr wrap="square">
            <a:spAutoFit/>
          </a:bodyPr>
          <a:lstStyle/>
          <a:p>
            <a:pPr>
              <a:defRPr sz="1100" b="1">
                <a:solidFill>
                  <a:srgbClr val="C8E1FF"/>
                </a:solidFill>
              </a:defRPr>
            </a:pPr>
            <a:r>
              <a:t>CÂU 9 &amp; 10 — SUY LUẬN TRUNG BÌNH</a:t>
            </a:r>
          </a:p>
        </p:txBody>
      </p:sp>
      <p:sp>
        <p:nvSpPr>
          <p:cNvPr id="4" name="TextBox 3"/>
          <p:cNvSpPr txBox="1"/>
          <p:nvPr/>
        </p:nvSpPr>
        <p:spPr>
          <a:xfrm>
            <a:off x="731520" y="384048"/>
            <a:ext cx="8686800" cy="594360"/>
          </a:xfrm>
          <a:prstGeom prst="rect">
            <a:avLst/>
          </a:prstGeom>
          <a:noFill/>
        </p:spPr>
        <p:txBody>
          <a:bodyPr wrap="square">
            <a:spAutoFit/>
          </a:bodyPr>
          <a:lstStyle/>
          <a:p>
            <a:pPr>
              <a:defRPr sz="2100" b="1">
                <a:solidFill>
                  <a:srgbClr val="FFFFFF"/>
                </a:solidFill>
              </a:defRPr>
            </a:pPr>
            <a:r>
              <a:t>7. Khoảng Tin Cậy 95% &amp; Kiểm Định Điểm Cuối Kỳ Trung Bình</a:t>
            </a:r>
          </a:p>
        </p:txBody>
      </p:sp>
      <p:sp>
        <p:nvSpPr>
          <p:cNvPr id="5" name="Rounded Rectangle 4"/>
          <p:cNvSpPr/>
          <p:nvPr/>
        </p:nvSpPr>
        <p:spPr>
          <a:xfrm>
            <a:off x="9601200" y="320040"/>
            <a:ext cx="2011680" cy="457200"/>
          </a:xfrm>
          <a:prstGeom prst="round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Võ Ngọc Minh Quân (DE200080)</a:t>
            </a:r>
          </a:p>
        </p:txBody>
      </p:sp>
      <p:sp>
        <p:nvSpPr>
          <p:cNvPr id="6" name="Rounded Rectangle 5"/>
          <p:cNvSpPr/>
          <p:nvPr/>
        </p:nvSpPr>
        <p:spPr>
          <a:xfrm>
            <a:off x="731520" y="1371600"/>
            <a:ext cx="5120640" cy="4937760"/>
          </a:xfrm>
          <a:prstGeom prst="roundRect">
            <a:avLst/>
          </a:prstGeom>
          <a:solidFill>
            <a:srgbClr val="F5F8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1F497D"/>
                </a:solidFill>
              </a:defRPr>
            </a:pPr>
            <a:r>
              <a:t>Khoảng Tin Cậy 95% Cho Trung Bình Y (Câu 9)</a:t>
            </a:r>
          </a:p>
          <a:p>
            <a:pPr>
              <a:spcBef>
                <a:spcPts val="800"/>
              </a:spcBef>
            </a:pPr>
            <a:r>
              <a:rPr b="1" sz="1200">
                <a:solidFill>
                  <a:srgbClr val="232323"/>
                </a:solidFill>
              </a:rPr>
              <a:t>• Ước lượng điểm trung bình mẫu: </a:t>
            </a:r>
            <a:r>
              <a:rPr sz="1200" b="0">
                <a:solidFill>
                  <a:srgbClr val="232323"/>
                </a:solidFill>
              </a:rPr>
              <a:t>Y_bar = 7.388 điểm</a:t>
            </a:r>
          </a:p>
          <a:p>
            <a:pPr>
              <a:spcBef>
                <a:spcPts val="800"/>
              </a:spcBef>
            </a:pPr>
            <a:r>
              <a:rPr b="1" sz="1200">
                <a:solidFill>
                  <a:srgbClr val="232323"/>
                </a:solidFill>
              </a:rPr>
              <a:t>• Sai số chuẩn (SE): </a:t>
            </a:r>
            <a:r>
              <a:rPr sz="1200" b="0">
                <a:solidFill>
                  <a:srgbClr val="232323"/>
                </a:solidFill>
              </a:rPr>
              <a:t>SE = s_Y / sqrt(n) = 1.231 / sqrt(32) = 0.218 điểm</a:t>
            </a:r>
          </a:p>
          <a:p>
            <a:pPr>
              <a:spcBef>
                <a:spcPts val="800"/>
              </a:spcBef>
            </a:pPr>
            <a:r>
              <a:rPr b="1" sz="1200">
                <a:solidFill>
                  <a:srgbClr val="232323"/>
                </a:solidFill>
              </a:rPr>
              <a:t>• Bậc tự do (df): </a:t>
            </a:r>
            <a:r>
              <a:rPr sz="1200" b="0">
                <a:solidFill>
                  <a:srgbClr val="232323"/>
                </a:solidFill>
              </a:rPr>
              <a:t>df = n - 1 = 31</a:t>
            </a:r>
          </a:p>
          <a:p>
            <a:pPr>
              <a:spcBef>
                <a:spcPts val="800"/>
              </a:spcBef>
            </a:pPr>
            <a:r>
              <a:rPr b="1" sz="1200">
                <a:solidFill>
                  <a:srgbClr val="232323"/>
                </a:solidFill>
              </a:rPr>
              <a:t>• Giá trị t tới hạn (alpha=0.05, 2 phía): </a:t>
            </a:r>
            <a:r>
              <a:rPr sz="1200" b="0">
                <a:solidFill>
                  <a:srgbClr val="232323"/>
                </a:solidFill>
              </a:rPr>
              <a:t>t_crit = 2.040</a:t>
            </a:r>
          </a:p>
          <a:p>
            <a:pPr>
              <a:spcBef>
                <a:spcPts val="800"/>
              </a:spcBef>
            </a:pPr>
            <a:r>
              <a:rPr b="1" sz="1200">
                <a:solidFill>
                  <a:srgbClr val="232323"/>
                </a:solidFill>
              </a:rPr>
              <a:t>• Biên sai số (Margin of Error): </a:t>
            </a:r>
            <a:r>
              <a:rPr sz="1200" b="0">
                <a:solidFill>
                  <a:srgbClr val="232323"/>
                </a:solidFill>
              </a:rPr>
              <a:t>E = t_crit * SE = 0.444 điểm</a:t>
            </a:r>
          </a:p>
          <a:p>
            <a:pPr>
              <a:spcBef>
                <a:spcPts val="800"/>
              </a:spcBef>
            </a:pPr>
            <a:r>
              <a:rPr b="1" sz="1200">
                <a:solidFill>
                  <a:srgbClr val="1F497D"/>
                </a:solidFill>
              </a:rPr>
              <a:t>• KHOẢNG TIN CẬY 95%: </a:t>
            </a:r>
            <a:r>
              <a:rPr sz="1200" b="1">
                <a:solidFill>
                  <a:srgbClr val="27AE60"/>
                </a:solidFill>
              </a:rPr>
              <a:t>[6.944, 7.831] điểm cuối kỳ</a:t>
            </a:r>
          </a:p>
          <a:p>
            <a:pPr>
              <a:spcBef>
                <a:spcPts val="800"/>
              </a:spcBef>
            </a:pPr>
            <a:r>
              <a:rPr b="1" sz="1200">
                <a:solidFill>
                  <a:srgbClr val="232323"/>
                </a:solidFill>
              </a:rPr>
              <a:t>• PHÂN BIỆT BẢN CHẤT: </a:t>
            </a:r>
            <a:r>
              <a:rPr sz="1200" b="0">
                <a:solidFill>
                  <a:srgbClr val="232323"/>
                </a:solidFill>
              </a:rPr>
              <a:t>Khoảng này ước lượng giá trị TRUNG BÌNH tổng thể (mu), KHÔNG PHẢI là khoảng chứa 95% điểm số của từng sinh viên riêng lẻ.</a:t>
            </a:r>
          </a:p>
        </p:txBody>
      </p:sp>
      <p:sp>
        <p:nvSpPr>
          <p:cNvPr id="7" name="Rounded Rectangle 6"/>
          <p:cNvSpPr/>
          <p:nvPr/>
        </p:nvSpPr>
        <p:spPr>
          <a:xfrm>
            <a:off x="6217920" y="1371600"/>
            <a:ext cx="5212080" cy="4937760"/>
          </a:xfrm>
          <a:prstGeom prst="roundRect">
            <a:avLst/>
          </a:prstGeom>
          <a:solidFill>
            <a:srgbClr val="F5F8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1F497D"/>
                </a:solidFill>
              </a:defRPr>
            </a:pPr>
            <a:r>
              <a:t>Kiểm Định Trung Bình Điểm Cuối Kỳ (Câu 10)</a:t>
            </a:r>
          </a:p>
          <a:p>
            <a:pPr>
              <a:spcBef>
                <a:spcPts val="800"/>
              </a:spcBef>
            </a:pPr>
            <a:r>
              <a:rPr b="1" sz="1200">
                <a:solidFill>
                  <a:srgbClr val="232323"/>
                </a:solidFill>
              </a:rPr>
              <a:t>• Cặp giả thuyết (Kiểm định 1 phía): </a:t>
            </a:r>
            <a:r>
              <a:rPr sz="1200" b="0">
                <a:solidFill>
                  <a:srgbClr val="232323"/>
                </a:solidFill>
              </a:rPr>
              <a:t>H0: mu &lt;= 7.0   vs   H1: mu &gt; 7.0</a:t>
            </a:r>
          </a:p>
          <a:p>
            <a:pPr>
              <a:spcBef>
                <a:spcPts val="800"/>
              </a:spcBef>
            </a:pPr>
            <a:r>
              <a:rPr b="1" sz="1200">
                <a:solidFill>
                  <a:srgbClr val="232323"/>
                </a:solidFill>
              </a:rPr>
              <a:t>• Thống kê kiểm định t: </a:t>
            </a:r>
            <a:r>
              <a:rPr sz="1200" b="0">
                <a:solidFill>
                  <a:srgbClr val="232323"/>
                </a:solidFill>
              </a:rPr>
              <a:t>t = (7.388 - 7.0) / 0.218 = 1.781</a:t>
            </a:r>
          </a:p>
          <a:p>
            <a:pPr>
              <a:spcBef>
                <a:spcPts val="800"/>
              </a:spcBef>
            </a:pPr>
            <a:r>
              <a:rPr b="1" sz="1200">
                <a:solidFill>
                  <a:srgbClr val="232323"/>
                </a:solidFill>
              </a:rPr>
              <a:t>• p-value (một phía): </a:t>
            </a:r>
            <a:r>
              <a:rPr sz="1200" b="0">
                <a:solidFill>
                  <a:srgbClr val="232323"/>
                </a:solidFill>
              </a:rPr>
              <a:t>p = 0.0423 (&lt; alpha = 0.05)</a:t>
            </a:r>
          </a:p>
          <a:p>
            <a:pPr>
              <a:spcBef>
                <a:spcPts val="800"/>
              </a:spcBef>
            </a:pPr>
            <a:r>
              <a:rPr b="1" sz="1200">
                <a:solidFill>
                  <a:srgbClr val="1F497D"/>
                </a:solidFill>
              </a:rPr>
              <a:t>• QUYẾT ĐỊNH THỐNG KÊ: </a:t>
            </a:r>
            <a:r>
              <a:rPr sz="1200" b="1">
                <a:solidFill>
                  <a:srgbClr val="27AE60"/>
                </a:solidFill>
              </a:rPr>
              <a:t>BÁC BỎ H0 ở mức ý nghĩa 5%.</a:t>
            </a:r>
          </a:p>
          <a:p>
            <a:pPr>
              <a:spcBef>
                <a:spcPts val="800"/>
              </a:spcBef>
            </a:pPr>
            <a:r>
              <a:rPr b="1" sz="1200">
                <a:solidFill>
                  <a:srgbClr val="232323"/>
                </a:solidFill>
              </a:rPr>
              <a:t>• Kết luận học thuật: </a:t>
            </a:r>
            <a:r>
              <a:rPr sz="1200" b="0">
                <a:solidFill>
                  <a:srgbClr val="232323"/>
                </a:solidFill>
              </a:rPr>
              <a:t>Có đủ bằng chứng thống kê để khẳng định điểm thi cuối kỳ trung bình của sinh viên đạt trên ngưỡng 7.0 điểm.</a:t>
            </a:r>
          </a:p>
          <a:p>
            <a:pPr>
              <a:spcBef>
                <a:spcPts val="800"/>
              </a:spcBef>
            </a:pPr>
            <a:r>
              <a:rPr b="1" sz="1200">
                <a:solidFill>
                  <a:srgbClr val="232323"/>
                </a:solidFill>
              </a:rPr>
              <a:t>• Sai lầm loại I (alpha = 0.05): </a:t>
            </a:r>
            <a:r>
              <a:rPr sz="1200" b="0">
                <a:solidFill>
                  <a:srgbClr val="232323"/>
                </a:solidFill>
              </a:rPr>
              <a:t>Kết luận mu &gt; 7.0 khi thực tế mu &lt;= 7.0 (rủi ro tối đa 5%).</a:t>
            </a:r>
          </a:p>
          <a:p>
            <a:pPr>
              <a:spcBef>
                <a:spcPts val="800"/>
              </a:spcBef>
            </a:pPr>
            <a:r>
              <a:rPr b="1" sz="1200">
                <a:solidFill>
                  <a:srgbClr val="232323"/>
                </a:solidFill>
              </a:rPr>
              <a:t>• Sai lầm loại II (beta): </a:t>
            </a:r>
            <a:r>
              <a:rPr sz="1200" b="0">
                <a:solidFill>
                  <a:srgbClr val="232323"/>
                </a:solidFill>
              </a:rPr>
              <a:t>Bỏ sót không phát hiện được sự tiến bộ thực chất của sinh viên.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8229600" cy="320040"/>
          </a:xfrm>
          <a:prstGeom prst="rect">
            <a:avLst/>
          </a:prstGeom>
          <a:noFill/>
        </p:spPr>
        <p:txBody>
          <a:bodyPr wrap="square">
            <a:spAutoFit/>
          </a:bodyPr>
          <a:lstStyle/>
          <a:p>
            <a:pPr>
              <a:defRPr sz="1100" b="1">
                <a:solidFill>
                  <a:srgbClr val="C8E1FF"/>
                </a:solidFill>
              </a:defRPr>
            </a:pPr>
            <a:r>
              <a:t>CÂU 11 &amp; 12 — SUY LUẬN HỆ SỐ GÓC</a:t>
            </a:r>
          </a:p>
        </p:txBody>
      </p:sp>
      <p:sp>
        <p:nvSpPr>
          <p:cNvPr id="4" name="TextBox 3"/>
          <p:cNvSpPr txBox="1"/>
          <p:nvPr/>
        </p:nvSpPr>
        <p:spPr>
          <a:xfrm>
            <a:off x="731520" y="384048"/>
            <a:ext cx="8686800" cy="594360"/>
          </a:xfrm>
          <a:prstGeom prst="rect">
            <a:avLst/>
          </a:prstGeom>
          <a:noFill/>
        </p:spPr>
        <p:txBody>
          <a:bodyPr wrap="square">
            <a:spAutoFit/>
          </a:bodyPr>
          <a:lstStyle/>
          <a:p>
            <a:pPr>
              <a:defRPr sz="2100" b="1">
                <a:solidFill>
                  <a:srgbClr val="FFFFFF"/>
                </a:solidFill>
              </a:defRPr>
            </a:pPr>
            <a:r>
              <a:t>8. Khoảng Tin Cậy 95% &amp; Kiểm Định Hệ Số Góc Hồi Quy</a:t>
            </a:r>
          </a:p>
        </p:txBody>
      </p:sp>
      <p:sp>
        <p:nvSpPr>
          <p:cNvPr id="5" name="Rounded Rectangle 4"/>
          <p:cNvSpPr/>
          <p:nvPr/>
        </p:nvSpPr>
        <p:spPr>
          <a:xfrm>
            <a:off x="9601200" y="320040"/>
            <a:ext cx="2011680" cy="457200"/>
          </a:xfrm>
          <a:prstGeom prst="round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Võ Ngọc Minh Quân (DE200080)</a:t>
            </a:r>
          </a:p>
        </p:txBody>
      </p:sp>
      <p:sp>
        <p:nvSpPr>
          <p:cNvPr id="6" name="Rounded Rectangle 5"/>
          <p:cNvSpPr/>
          <p:nvPr/>
        </p:nvSpPr>
        <p:spPr>
          <a:xfrm>
            <a:off x="731520" y="1371600"/>
            <a:ext cx="5120640" cy="4937760"/>
          </a:xfrm>
          <a:prstGeom prst="roundRect">
            <a:avLst/>
          </a:prstGeom>
          <a:solidFill>
            <a:srgbClr val="F5F8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1F497D"/>
                </a:solidFill>
              </a:defRPr>
            </a:pPr>
            <a:r>
              <a:t>Khoảng Tin Cậy 95% Cho Hệ Số Góc beta1 (Câu 11)</a:t>
            </a:r>
          </a:p>
          <a:p>
            <a:pPr>
              <a:spcBef>
                <a:spcPts val="800"/>
              </a:spcBef>
            </a:pPr>
            <a:r>
              <a:rPr b="1" sz="1200">
                <a:solidFill>
                  <a:srgbClr val="232323"/>
                </a:solidFill>
              </a:rPr>
              <a:t>• Ước lượng điểm hệ số góc (b1): </a:t>
            </a:r>
            <a:r>
              <a:rPr sz="1200" b="0">
                <a:solidFill>
                  <a:srgbClr val="232323"/>
                </a:solidFill>
              </a:rPr>
              <a:t>b1 = 0.4999</a:t>
            </a:r>
          </a:p>
          <a:p>
            <a:pPr>
              <a:spcBef>
                <a:spcPts val="800"/>
              </a:spcBef>
            </a:pPr>
            <a:r>
              <a:rPr b="1" sz="1200">
                <a:solidFill>
                  <a:srgbClr val="232323"/>
                </a:solidFill>
              </a:rPr>
              <a:t>• Sai số chuẩn SE(b1): </a:t>
            </a:r>
            <a:r>
              <a:rPr sz="1200" b="0">
                <a:solidFill>
                  <a:srgbClr val="232323"/>
                </a:solidFill>
              </a:rPr>
              <a:t>SE(b1) = 0.1601</a:t>
            </a:r>
          </a:p>
          <a:p>
            <a:pPr>
              <a:spcBef>
                <a:spcPts val="800"/>
              </a:spcBef>
            </a:pPr>
            <a:r>
              <a:rPr b="1" sz="1200">
                <a:solidFill>
                  <a:srgbClr val="232323"/>
                </a:solidFill>
              </a:rPr>
              <a:t>• Bậc tự do (df): </a:t>
            </a:r>
            <a:r>
              <a:rPr sz="1200" b="0">
                <a:solidFill>
                  <a:srgbClr val="232323"/>
                </a:solidFill>
              </a:rPr>
              <a:t>df = n - 2 = 30</a:t>
            </a:r>
          </a:p>
          <a:p>
            <a:pPr>
              <a:spcBef>
                <a:spcPts val="800"/>
              </a:spcBef>
            </a:pPr>
            <a:r>
              <a:rPr b="1" sz="1200">
                <a:solidFill>
                  <a:srgbClr val="232323"/>
                </a:solidFill>
              </a:rPr>
              <a:t>• Giá trị t tới hạn (alpha=0.05, 2 phía): </a:t>
            </a:r>
            <a:r>
              <a:rPr sz="1200" b="0">
                <a:solidFill>
                  <a:srgbClr val="232323"/>
                </a:solidFill>
              </a:rPr>
              <a:t>t_crit = 2.042</a:t>
            </a:r>
          </a:p>
          <a:p>
            <a:pPr>
              <a:spcBef>
                <a:spcPts val="800"/>
              </a:spcBef>
            </a:pPr>
            <a:r>
              <a:rPr b="1" sz="1200">
                <a:solidFill>
                  <a:srgbClr val="1F497D"/>
                </a:solidFill>
              </a:rPr>
              <a:t>• KHOẢNG TIN CẬY 95%: </a:t>
            </a:r>
            <a:r>
              <a:rPr sz="1200" b="1">
                <a:solidFill>
                  <a:srgbClr val="27AE60"/>
                </a:solidFill>
              </a:rPr>
              <a:t>[0.1730, 0.8269] điểm cuối kỳ/điểm giữa kỳ</a:t>
            </a:r>
          </a:p>
          <a:p>
            <a:pPr>
              <a:spcBef>
                <a:spcPts val="800"/>
              </a:spcBef>
            </a:pPr>
            <a:r>
              <a:rPr b="1" sz="1200">
                <a:solidFill>
                  <a:srgbClr val="232323"/>
                </a:solidFill>
              </a:rPr>
              <a:t>• Khoảng có chứa giá trị 0?: </a:t>
            </a:r>
            <a:r>
              <a:rPr sz="1200" b="0">
                <a:solidFill>
                  <a:srgbClr val="232323"/>
                </a:solidFill>
              </a:rPr>
              <a:t>KHÔNG CHỨA 0 (Khẳng định độ tin cậy của mối liên hệ).</a:t>
            </a:r>
          </a:p>
          <a:p>
            <a:pPr>
              <a:spcBef>
                <a:spcPts val="800"/>
              </a:spcBef>
            </a:pPr>
            <a:r>
              <a:rPr b="1" sz="1200">
                <a:solidFill>
                  <a:srgbClr val="232323"/>
                </a:solidFill>
              </a:rPr>
              <a:t>• Ý nghĩa thực tiễn: </a:t>
            </a:r>
            <a:r>
              <a:rPr sz="1200" b="0">
                <a:solidFill>
                  <a:srgbClr val="232323"/>
                </a:solidFill>
              </a:rPr>
              <a:t>Khi giữa kỳ tăng 1 điểm, cuối kỳ trung bình tăng từ 0.17 đến 0.83 điểm.</a:t>
            </a:r>
          </a:p>
        </p:txBody>
      </p:sp>
      <p:sp>
        <p:nvSpPr>
          <p:cNvPr id="7" name="Rounded Rectangle 6"/>
          <p:cNvSpPr/>
          <p:nvPr/>
        </p:nvSpPr>
        <p:spPr>
          <a:xfrm>
            <a:off x="6217920" y="1371600"/>
            <a:ext cx="5212080" cy="4937760"/>
          </a:xfrm>
          <a:prstGeom prst="roundRect">
            <a:avLst/>
          </a:prstGeom>
          <a:solidFill>
            <a:srgbClr val="F5F8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1F497D"/>
                </a:solidFill>
              </a:defRPr>
            </a:pPr>
            <a:r>
              <a:t>Kiểm Định Hệ Số Góc Hồi Quy (Câu 12)</a:t>
            </a:r>
          </a:p>
          <a:p>
            <a:pPr>
              <a:spcBef>
                <a:spcPts val="800"/>
              </a:spcBef>
            </a:pPr>
            <a:r>
              <a:rPr b="1" sz="1200">
                <a:solidFill>
                  <a:srgbClr val="232323"/>
                </a:solidFill>
              </a:rPr>
              <a:t>• Cặp giả thuyết (Kiểm định 2 phía): </a:t>
            </a:r>
            <a:r>
              <a:rPr sz="1200" b="0">
                <a:solidFill>
                  <a:srgbClr val="232323"/>
                </a:solidFill>
              </a:rPr>
              <a:t>H0: beta1 = 0   vs   H1: beta1 != 0</a:t>
            </a:r>
          </a:p>
          <a:p>
            <a:pPr>
              <a:spcBef>
                <a:spcPts val="800"/>
              </a:spcBef>
            </a:pPr>
            <a:r>
              <a:rPr b="1" sz="1200">
                <a:solidFill>
                  <a:srgbClr val="232323"/>
                </a:solidFill>
              </a:rPr>
              <a:t>• Thống kê kiểm định t: </a:t>
            </a:r>
            <a:r>
              <a:rPr sz="1200" b="0">
                <a:solidFill>
                  <a:srgbClr val="232323"/>
                </a:solidFill>
              </a:rPr>
              <a:t>t = b1 / SE(b1) = 0.4999 / 0.1601 = 3.123</a:t>
            </a:r>
          </a:p>
          <a:p>
            <a:pPr>
              <a:spcBef>
                <a:spcPts val="800"/>
              </a:spcBef>
            </a:pPr>
            <a:r>
              <a:rPr b="1" sz="1200">
                <a:solidFill>
                  <a:srgbClr val="232323"/>
                </a:solidFill>
              </a:rPr>
              <a:t>• p-value (hai phía): </a:t>
            </a:r>
            <a:r>
              <a:rPr sz="1200" b="0">
                <a:solidFill>
                  <a:srgbClr val="232323"/>
                </a:solidFill>
              </a:rPr>
              <a:t>p = 0.0039 (&lt; 0.01 — Cực kỳ có ý nghĩa)</a:t>
            </a:r>
          </a:p>
          <a:p>
            <a:pPr>
              <a:spcBef>
                <a:spcPts val="800"/>
              </a:spcBef>
            </a:pPr>
            <a:r>
              <a:rPr b="1" sz="1200">
                <a:solidFill>
                  <a:srgbClr val="1F497D"/>
                </a:solidFill>
              </a:rPr>
              <a:t>• QUYẾT ĐỊNH THỐNG KÊ: </a:t>
            </a:r>
            <a:r>
              <a:rPr sz="1200" b="1">
                <a:solidFill>
                  <a:srgbClr val="27AE60"/>
                </a:solidFill>
              </a:rPr>
              <a:t>BÁC BỎ H0 ở mức ý nghĩa 5%.</a:t>
            </a:r>
          </a:p>
          <a:p>
            <a:pPr>
              <a:spcBef>
                <a:spcPts val="800"/>
              </a:spcBef>
            </a:pPr>
            <a:r>
              <a:rPr b="1" sz="1200">
                <a:solidFill>
                  <a:srgbClr val="232323"/>
                </a:solidFill>
              </a:rPr>
              <a:t>• TÍNH ĐỐI NGẪU VỚI CÂU 11: </a:t>
            </a:r>
            <a:r>
              <a:rPr sz="1200" b="1">
                <a:solidFill>
                  <a:srgbClr val="232323"/>
                </a:solidFill>
              </a:rPr>
              <a:t>Hoàn toàn nhất quán 100%: Bác bỏ H0 tương đương với KTC 95% không chứa giá trị 0.</a:t>
            </a:r>
          </a:p>
          <a:p>
            <a:pPr>
              <a:spcBef>
                <a:spcPts val="800"/>
              </a:spcBef>
            </a:pPr>
            <a:r>
              <a:rPr b="1" sz="1200">
                <a:solidFill>
                  <a:srgbClr val="232323"/>
                </a:solidFill>
              </a:rPr>
              <a:t>• Ý nghĩa thống kê vs Ý nghĩa thực tế: </a:t>
            </a:r>
            <a:r>
              <a:rPr sz="1200" b="0">
                <a:solidFill>
                  <a:srgbClr val="232323"/>
                </a:solidFill>
              </a:rPr>
              <a:t>Mối liên hệ có ý nghĩa thống kê cao nhưng chỉ giải thích 24.5% biến thiên thực tế.</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8229600" cy="320040"/>
          </a:xfrm>
          <a:prstGeom prst="rect">
            <a:avLst/>
          </a:prstGeom>
          <a:noFill/>
        </p:spPr>
        <p:txBody>
          <a:bodyPr wrap="square">
            <a:spAutoFit/>
          </a:bodyPr>
          <a:lstStyle/>
          <a:p>
            <a:pPr>
              <a:defRPr sz="1100" b="1">
                <a:solidFill>
                  <a:srgbClr val="C8E1FF"/>
                </a:solidFill>
              </a:defRPr>
            </a:pPr>
            <a:r>
              <a:t>CÂU 1A — DỰ ĐOÁN CHUYÊN SÂU ĐỀ TÀI 1</a:t>
            </a:r>
          </a:p>
        </p:txBody>
      </p:sp>
      <p:sp>
        <p:nvSpPr>
          <p:cNvPr id="4" name="TextBox 3"/>
          <p:cNvSpPr txBox="1"/>
          <p:nvPr/>
        </p:nvSpPr>
        <p:spPr>
          <a:xfrm>
            <a:off x="731520" y="384048"/>
            <a:ext cx="8686800" cy="594360"/>
          </a:xfrm>
          <a:prstGeom prst="rect">
            <a:avLst/>
          </a:prstGeom>
          <a:noFill/>
        </p:spPr>
        <p:txBody>
          <a:bodyPr wrap="square">
            <a:spAutoFit/>
          </a:bodyPr>
          <a:lstStyle/>
          <a:p>
            <a:pPr>
              <a:defRPr sz="2100" b="1">
                <a:solidFill>
                  <a:srgbClr val="FFFFFF"/>
                </a:solidFill>
              </a:defRPr>
            </a:pPr>
            <a:r>
              <a:t>9. Dự Đoán Điểm Cuối Kỳ Theo Bối Cảnh Thực Tế</a:t>
            </a:r>
          </a:p>
        </p:txBody>
      </p:sp>
      <p:sp>
        <p:nvSpPr>
          <p:cNvPr id="5" name="Rounded Rectangle 4"/>
          <p:cNvSpPr/>
          <p:nvPr/>
        </p:nvSpPr>
        <p:spPr>
          <a:xfrm>
            <a:off x="9601200" y="320040"/>
            <a:ext cx="2011680" cy="457200"/>
          </a:xfrm>
          <a:prstGeom prst="round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Vũ Hữu Thái (DE200132)</a:t>
            </a:r>
          </a:p>
        </p:txBody>
      </p:sp>
      <p:graphicFrame>
        <p:nvGraphicFramePr>
          <p:cNvPr id="6" name="Table 5"/>
          <p:cNvGraphicFramePr>
            <a:graphicFrameLocks noGrp="1"/>
          </p:cNvGraphicFramePr>
          <p:nvPr/>
        </p:nvGraphicFramePr>
        <p:xfrm>
          <a:off x="731520" y="1371600"/>
          <a:ext cx="10698480" cy="2011680"/>
        </p:xfrm>
        <a:graphic>
          <a:graphicData uri="http://schemas.openxmlformats.org/drawingml/2006/table">
            <a:tbl>
              <a:tblPr firstRow="1" bandRow="1">
                <a:tableStyleId>{5C22544A-7EE6-4342-B048-85BDC9FD1C3A}</a:tableStyleId>
              </a:tblPr>
              <a:tblGrid>
                <a:gridCol w="2286000"/>
                <a:gridCol w="2286000"/>
                <a:gridCol w="3017520"/>
                <a:gridCol w="3108960"/>
              </a:tblGrid>
              <a:tr h="670560">
                <a:tc>
                  <a:txBody>
                    <a:bodyPr/>
                    <a:lstStyle/>
                    <a:p>
                      <a:pPr algn="ctr">
                        <a:defRPr b="1" sz="1200">
                          <a:solidFill>
                            <a:srgbClr val="FFFFFF"/>
                          </a:solidFill>
                        </a:defRPr>
                      </a:pPr>
                      <a:r>
                        <a:t>Điểm giữa kỳ (X)</a:t>
                      </a:r>
                    </a:p>
                  </a:txBody>
                  <a:tcPr>
                    <a:solidFill>
                      <a:srgbClr val="1F497D"/>
                    </a:solidFill>
                  </a:tcPr>
                </a:tc>
                <a:tc>
                  <a:txBody>
                    <a:bodyPr/>
                    <a:lstStyle/>
                    <a:p>
                      <a:pPr algn="ctr">
                        <a:defRPr b="1" sz="1200">
                          <a:solidFill>
                            <a:srgbClr val="FFFFFF"/>
                          </a:solidFill>
                        </a:defRPr>
                      </a:pPr>
                      <a:r>
                        <a:t>Điểm cuối kỳ dự đoán (Y_hat)</a:t>
                      </a:r>
                    </a:p>
                  </a:txBody>
                  <a:tcPr>
                    <a:solidFill>
                      <a:srgbClr val="1F497D"/>
                    </a:solidFill>
                  </a:tcPr>
                </a:tc>
                <a:tc>
                  <a:txBody>
                    <a:bodyPr/>
                    <a:lstStyle/>
                    <a:p>
                      <a:pPr algn="ctr">
                        <a:defRPr b="1" sz="1200">
                          <a:solidFill>
                            <a:srgbClr val="FFFFFF"/>
                          </a:solidFill>
                        </a:defRPr>
                      </a:pPr>
                      <a:r>
                        <a:t>95% KTC cho Trung bình</a:t>
                      </a:r>
                    </a:p>
                  </a:txBody>
                  <a:tcPr>
                    <a:solidFill>
                      <a:srgbClr val="1F497D"/>
                    </a:solidFill>
                  </a:tcPr>
                </a:tc>
                <a:tc>
                  <a:txBody>
                    <a:bodyPr/>
                    <a:lstStyle/>
                    <a:p>
                      <a:pPr algn="ctr">
                        <a:defRPr b="1" sz="1200">
                          <a:solidFill>
                            <a:srgbClr val="FFFFFF"/>
                          </a:solidFill>
                        </a:defRPr>
                      </a:pPr>
                      <a:r>
                        <a:t>95% Khoảng dự đoán cá nhân (PI)</a:t>
                      </a:r>
                    </a:p>
                  </a:txBody>
                  <a:tcPr>
                    <a:solidFill>
                      <a:srgbClr val="1F497D"/>
                    </a:solidFill>
                  </a:tcPr>
                </a:tc>
              </a:tr>
              <a:tr h="670560">
                <a:tc>
                  <a:txBody>
                    <a:bodyPr/>
                    <a:lstStyle/>
                    <a:p>
                      <a:pPr algn="ctr">
                        <a:defRPr sz="1200"/>
                      </a:pPr>
                      <a:r>
                        <a:t>X = 6.0 điểm</a:t>
                      </a:r>
                    </a:p>
                  </a:txBody>
                  <a:tcPr/>
                </a:tc>
                <a:tc>
                  <a:txBody>
                    <a:bodyPr/>
                    <a:lstStyle/>
                    <a:p>
                      <a:pPr algn="ctr">
                        <a:defRPr sz="1200"/>
                      </a:pPr>
                      <a:r>
                        <a:t>6.667 điểm</a:t>
                      </a:r>
                    </a:p>
                  </a:txBody>
                  <a:tcPr/>
                </a:tc>
                <a:tc>
                  <a:txBody>
                    <a:bodyPr/>
                    <a:lstStyle/>
                    <a:p>
                      <a:pPr algn="ctr">
                        <a:defRPr sz="1200"/>
                      </a:pPr>
                      <a:r>
                        <a:t>[6.155, 7.179] điểm</a:t>
                      </a:r>
                    </a:p>
                  </a:txBody>
                  <a:tcPr/>
                </a:tc>
                <a:tc>
                  <a:txBody>
                    <a:bodyPr/>
                    <a:lstStyle/>
                    <a:p>
                      <a:pPr algn="ctr">
                        <a:defRPr sz="1200"/>
                      </a:pPr>
                      <a:r>
                        <a:t>[4.382, 8.951] điểm</a:t>
                      </a:r>
                    </a:p>
                  </a:txBody>
                  <a:tcPr/>
                </a:tc>
              </a:tr>
              <a:tr h="670560">
                <a:tc>
                  <a:txBody>
                    <a:bodyPr/>
                    <a:lstStyle/>
                    <a:p>
                      <a:pPr algn="ctr">
                        <a:defRPr sz="1200"/>
                      </a:pPr>
                      <a:r>
                        <a:t>X = 8.0 điểm</a:t>
                      </a:r>
                    </a:p>
                  </a:txBody>
                  <a:tcPr/>
                </a:tc>
                <a:tc>
                  <a:txBody>
                    <a:bodyPr/>
                    <a:lstStyle/>
                    <a:p>
                      <a:pPr algn="ctr">
                        <a:defRPr sz="1200"/>
                      </a:pPr>
                      <a:r>
                        <a:t>7.667 điểm</a:t>
                      </a:r>
                    </a:p>
                  </a:txBody>
                  <a:tcPr/>
                </a:tc>
                <a:tc>
                  <a:txBody>
                    <a:bodyPr/>
                    <a:lstStyle/>
                    <a:p>
                      <a:pPr algn="ctr">
                        <a:defRPr sz="1200"/>
                      </a:pPr>
                      <a:r>
                        <a:t>[7.234, 8.100] điểm</a:t>
                      </a:r>
                    </a:p>
                  </a:txBody>
                  <a:tcPr/>
                </a:tc>
                <a:tc>
                  <a:txBody>
                    <a:bodyPr/>
                    <a:lstStyle/>
                    <a:p>
                      <a:pPr algn="ctr">
                        <a:defRPr sz="1200"/>
                      </a:pPr>
                      <a:r>
                        <a:t>[5.408, 9.926] điểm</a:t>
                      </a:r>
                    </a:p>
                  </a:txBody>
                  <a:tcPr/>
                </a:tc>
              </a:tr>
            </a:tbl>
          </a:graphicData>
        </a:graphic>
      </p:graphicFrame>
      <p:sp>
        <p:nvSpPr>
          <p:cNvPr id="7" name="Rounded Rectangle 6"/>
          <p:cNvSpPr/>
          <p:nvPr/>
        </p:nvSpPr>
        <p:spPr>
          <a:xfrm>
            <a:off x="731520" y="3657600"/>
            <a:ext cx="10698480" cy="2743200"/>
          </a:xfrm>
          <a:prstGeom prst="roundRect">
            <a:avLst/>
          </a:prstGeom>
          <a:solidFill>
            <a:srgbClr val="F5F8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1F497D"/>
                </a:solidFill>
              </a:defRPr>
            </a:pPr>
            <a:r>
              <a:t>Phân Tích Ý Nghĩa Thực Tế và Cảnh Báo Nhân Quả (Câu 1A)</a:t>
            </a:r>
          </a:p>
          <a:p>
            <a:pPr>
              <a:spcBef>
                <a:spcPts val="600"/>
              </a:spcBef>
            </a:pPr>
            <a:r>
              <a:rPr b="1" sz="1150">
                <a:solidFill>
                  <a:srgbClr val="232323"/>
                </a:solidFill>
              </a:rPr>
              <a:t>• Mức chênh lệch dự đoán: </a:t>
            </a:r>
            <a:r>
              <a:rPr sz="1150">
                <a:solidFill>
                  <a:srgbClr val="232323"/>
                </a:solidFill>
              </a:rPr>
              <a:t>Delta_Y = b1 * (8.0 - 6.0) = 0.4999 * 2 = 1.000 điểm.</a:t>
            </a:r>
          </a:p>
          <a:p>
            <a:pPr>
              <a:spcBef>
                <a:spcPts val="600"/>
              </a:spcBef>
            </a:pPr>
            <a:r>
              <a:rPr b="1" sz="1150">
                <a:solidFill>
                  <a:srgbClr val="232323"/>
                </a:solidFill>
              </a:rPr>
              <a:t>• Ý nghĩa thực tế: </a:t>
            </a:r>
            <a:r>
              <a:rPr sz="1150">
                <a:solidFill>
                  <a:srgbClr val="232323"/>
                </a:solidFill>
              </a:rPr>
              <a:t>Sinh viên có điểm giữa kỳ đạt 8.0 có kỳ vọng điểm thi cuối kỳ cao hơn 1.0 điểm so với sinh viên đạt 6.0 điểm.</a:t>
            </a:r>
          </a:p>
          <a:p>
            <a:pPr>
              <a:spcBef>
                <a:spcPts val="600"/>
              </a:spcBef>
            </a:pPr>
            <a:r>
              <a:rPr b="1" sz="1150">
                <a:solidFill>
                  <a:srgbClr val="232323"/>
                </a:solidFill>
              </a:rPr>
              <a:t>• Độ rộng khoảng dự đoán cá nhân (PI): </a:t>
            </a:r>
            <a:r>
              <a:rPr sz="1150">
                <a:solidFill>
                  <a:srgbClr val="232323"/>
                </a:solidFill>
              </a:rPr>
              <a:t>Khoảng dự đoán cá nhân cho từng sinh viên rất rộng (dao động từ 4.4 đến 9.9 điểm), phản ánh sự đa dạng và sai số ngẫu nhiên cá thể lớn.</a:t>
            </a:r>
          </a:p>
          <a:p>
            <a:pPr>
              <a:spcBef>
                <a:spcPts val="600"/>
              </a:spcBef>
            </a:pPr>
            <a:r>
              <a:rPr b="1" sz="1150">
                <a:solidFill>
                  <a:srgbClr val="1F497D"/>
                </a:solidFill>
              </a:rPr>
              <a:t>• CẢNH BÁO QUAN TRỌNG VỀ NHÂN QUẢ: </a:t>
            </a:r>
            <a:r>
              <a:rPr sz="1150">
                <a:solidFill>
                  <a:srgbClr val="232323"/>
                </a:solidFill>
              </a:rPr>
              <a:t>Sự chênh lệch 1.0 điểm chỉ là so sánh kỳ vọng thống kê giữa hai nhóm người học có năng lực khác nhau. TUYỆT ĐỐI KHÔNG phải là bằng chứng cho thấy việc can thiệp nâng điểm giữa kỳ thêm 2 điểm sẽ làm điểm cuối kỳ của một cá nhân chắc chắn tăng 1 điểm.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8229600" cy="320040"/>
          </a:xfrm>
          <a:prstGeom prst="rect">
            <a:avLst/>
          </a:prstGeom>
          <a:noFill/>
        </p:spPr>
        <p:txBody>
          <a:bodyPr wrap="square">
            <a:spAutoFit/>
          </a:bodyPr>
          <a:lstStyle/>
          <a:p>
            <a:pPr>
              <a:defRPr sz="1100" b="1">
                <a:solidFill>
                  <a:srgbClr val="C8E1FF"/>
                </a:solidFill>
              </a:defRPr>
            </a:pPr>
            <a:r>
              <a:t>CÂU 1B — GIỚI HẠN MÔ HÌNH</a:t>
            </a:r>
          </a:p>
        </p:txBody>
      </p:sp>
      <p:sp>
        <p:nvSpPr>
          <p:cNvPr id="4" name="TextBox 3"/>
          <p:cNvSpPr txBox="1"/>
          <p:nvPr/>
        </p:nvSpPr>
        <p:spPr>
          <a:xfrm>
            <a:off x="731520" y="384048"/>
            <a:ext cx="8686800" cy="594360"/>
          </a:xfrm>
          <a:prstGeom prst="rect">
            <a:avLst/>
          </a:prstGeom>
          <a:noFill/>
        </p:spPr>
        <p:txBody>
          <a:bodyPr wrap="square">
            <a:spAutoFit/>
          </a:bodyPr>
          <a:lstStyle/>
          <a:p>
            <a:pPr>
              <a:defRPr sz="2100" b="1">
                <a:solidFill>
                  <a:srgbClr val="FFFFFF"/>
                </a:solidFill>
              </a:defRPr>
            </a:pPr>
            <a:r>
              <a:t>10. Giới Hạn Của Mô Hình &amp; Bằng Chứng Thực Nghiệm</a:t>
            </a:r>
          </a:p>
        </p:txBody>
      </p:sp>
      <p:sp>
        <p:nvSpPr>
          <p:cNvPr id="5" name="Rounded Rectangle 4"/>
          <p:cNvSpPr/>
          <p:nvPr/>
        </p:nvSpPr>
        <p:spPr>
          <a:xfrm>
            <a:off x="9601200" y="320040"/>
            <a:ext cx="2011680" cy="457200"/>
          </a:xfrm>
          <a:prstGeom prst="round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Vũ Hữu Thái (DE200132)</a:t>
            </a:r>
          </a:p>
        </p:txBody>
      </p:sp>
      <p:sp>
        <p:nvSpPr>
          <p:cNvPr id="6" name="Rounded Rectangle 5"/>
          <p:cNvSpPr/>
          <p:nvPr/>
        </p:nvSpPr>
        <p:spPr>
          <a:xfrm>
            <a:off x="731520" y="1371600"/>
            <a:ext cx="3383280" cy="5029200"/>
          </a:xfrm>
          <a:prstGeom prst="roundRect">
            <a:avLst/>
          </a:prstGeom>
          <a:solidFill>
            <a:srgbClr val="F5F8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1F497D"/>
                </a:solidFill>
              </a:defRPr>
            </a:pPr>
            <a:r>
              <a:t>1. Ngoại Suy &amp; Thang Điểm [0, 10]</a:t>
            </a:r>
          </a:p>
          <a:p>
            <a:pPr>
              <a:spcBef>
                <a:spcPts val="800"/>
              </a:spcBef>
              <a:defRPr sz="1150">
                <a:solidFill>
                  <a:srgbClr val="232323"/>
                </a:solidFill>
              </a:defRPr>
            </a:pPr>
            <a:r>
              <a:t>• Mô hình OLS là hàm tuyến tính không giới hạn (-inf, +inf).</a:t>
            </a:r>
            <a:br/>
            <a:br/>
            <a:r>
              <a:t>• Điểm thi thực tế bị chặn cứng trong đoạn [0, 10].</a:t>
            </a:r>
            <a:br/>
            <a:br/>
            <a:r>
              <a:t>• Nếu ngoại suy với X quá thấp hoặc quá cao, Y_hat có thể âm hoặc vượt quá 10, điều phi thực tế.</a:t>
            </a:r>
            <a:br/>
            <a:br/>
            <a:r>
              <a:t>• Chỉ nên tin cậy mô hình trong miền quan sát thực tế [5.0, 9.5].</a:t>
            </a:r>
          </a:p>
        </p:txBody>
      </p:sp>
      <p:sp>
        <p:nvSpPr>
          <p:cNvPr id="7" name="Rounded Rectangle 6"/>
          <p:cNvSpPr/>
          <p:nvPr/>
        </p:nvSpPr>
        <p:spPr>
          <a:xfrm>
            <a:off x="4389120" y="1371600"/>
            <a:ext cx="3383280" cy="5029200"/>
          </a:xfrm>
          <a:prstGeom prst="roundRect">
            <a:avLst/>
          </a:prstGeom>
          <a:solidFill>
            <a:srgbClr val="F5F8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1F497D"/>
                </a:solidFill>
              </a:defRPr>
            </a:pPr>
            <a:r>
              <a:t>2. Biến Thiên Độ Khó Đề Thi</a:t>
            </a:r>
          </a:p>
          <a:p>
            <a:pPr>
              <a:spcBef>
                <a:spcPts val="800"/>
              </a:spcBef>
              <a:defRPr sz="1150">
                <a:solidFill>
                  <a:srgbClr val="232323"/>
                </a:solidFill>
              </a:defRPr>
            </a:pPr>
            <a:r>
              <a:t>Khảo sát thực tế 32 sinh viên của nhóm ghi nhận:</a:t>
            </a:r>
            <a:br/>
            <a:br/>
            <a:r>
              <a:t>• 40.6% đánh giá đề cuối kỳ KHÓ HƠN hoặc KHÓ HƠN RẤT NHIỀU so với giữa kỳ.</a:t>
            </a:r>
            <a:br/>
            <a:br/>
            <a:r>
              <a:t>• 34.4% đánh giá tương đương.</a:t>
            </a:r>
            <a:br/>
            <a:br/>
            <a:r>
              <a:t>• 25.0% đánh giá dễ hơn.</a:t>
            </a:r>
            <a:br/>
            <a:br/>
            <a:r>
              <a:t>Sự chênh lệch ma trận đề và độ phân hóa câu hỏi khó khiến điểm số không thể bảo toàn tuyệt đối 1-1.</a:t>
            </a:r>
          </a:p>
        </p:txBody>
      </p:sp>
      <p:sp>
        <p:nvSpPr>
          <p:cNvPr id="8" name="Rounded Rectangle 7"/>
          <p:cNvSpPr/>
          <p:nvPr/>
        </p:nvSpPr>
        <p:spPr>
          <a:xfrm>
            <a:off x="8046720" y="1371600"/>
            <a:ext cx="3383280" cy="5029200"/>
          </a:xfrm>
          <a:prstGeom prst="roundRect">
            <a:avLst/>
          </a:prstGeom>
          <a:solidFill>
            <a:srgbClr val="F5F8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1F497D"/>
                </a:solidFill>
              </a:defRPr>
            </a:pPr>
            <a:r>
              <a:t>3. Nỗ Lực Tự Học &amp; Biến Bỏ Sót</a:t>
            </a:r>
          </a:p>
          <a:p>
            <a:pPr>
              <a:spcBef>
                <a:spcPts val="800"/>
              </a:spcBef>
              <a:defRPr sz="1150">
                <a:solidFill>
                  <a:srgbClr val="232323"/>
                </a:solidFill>
              </a:defRPr>
            </a:pPr>
            <a:r>
              <a:t>• 84.4% sinh viên đánh giá nỗ lực tự học sau giữa kỳ ở mức cao và rất cao (mức 4–5/5).</a:t>
            </a:r>
            <a:br/>
            <a:br/>
            <a:r>
              <a:t>• Hiệu ứng phản hồi: Sinh viên điểm thấp nỗ lực ôn bù mạnh mẽ tạo bứt phá; sinh viên điểm cao có thể chủ quan.</a:t>
            </a:r>
            <a:br/>
            <a:br/>
            <a:r>
              <a:t>• Biến số bị bỏ sót (75.5%): Thời gian tự học, điểm danh chuyên cần, GPA tích lũy, sức khỏe phòng thi.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8229600" cy="320040"/>
          </a:xfrm>
          <a:prstGeom prst="rect">
            <a:avLst/>
          </a:prstGeom>
          <a:noFill/>
        </p:spPr>
        <p:txBody>
          <a:bodyPr wrap="square">
            <a:spAutoFit/>
          </a:bodyPr>
          <a:lstStyle/>
          <a:p>
            <a:pPr>
              <a:defRPr sz="1100" b="1">
                <a:solidFill>
                  <a:srgbClr val="C8E1FF"/>
                </a:solidFill>
              </a:defRPr>
            </a:pPr>
            <a:r>
              <a:t>PHẦN 5 — KẾT LUẬN &amp; HẠN CHẾ</a:t>
            </a:r>
          </a:p>
        </p:txBody>
      </p:sp>
      <p:sp>
        <p:nvSpPr>
          <p:cNvPr id="4" name="TextBox 3"/>
          <p:cNvSpPr txBox="1"/>
          <p:nvPr/>
        </p:nvSpPr>
        <p:spPr>
          <a:xfrm>
            <a:off x="731520" y="384048"/>
            <a:ext cx="8686800" cy="594360"/>
          </a:xfrm>
          <a:prstGeom prst="rect">
            <a:avLst/>
          </a:prstGeom>
          <a:noFill/>
        </p:spPr>
        <p:txBody>
          <a:bodyPr wrap="square">
            <a:spAutoFit/>
          </a:bodyPr>
          <a:lstStyle/>
          <a:p>
            <a:pPr>
              <a:defRPr sz="2100" b="1">
                <a:solidFill>
                  <a:srgbClr val="FFFFFF"/>
                </a:solidFill>
              </a:defRPr>
            </a:pPr>
            <a:r>
              <a:t>11. Kết Luận Học Thuật &amp; Phiên Hỏi Đáp (Q&amp;A)</a:t>
            </a:r>
          </a:p>
        </p:txBody>
      </p:sp>
      <p:sp>
        <p:nvSpPr>
          <p:cNvPr id="5" name="Rounded Rectangle 4"/>
          <p:cNvSpPr/>
          <p:nvPr/>
        </p:nvSpPr>
        <p:spPr>
          <a:xfrm>
            <a:off x="9601200" y="320040"/>
            <a:ext cx="2011680" cy="457200"/>
          </a:xfrm>
          <a:prstGeom prst="round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Vũ Hữu Thái (DE200132)</a:t>
            </a:r>
          </a:p>
        </p:txBody>
      </p:sp>
      <p:sp>
        <p:nvSpPr>
          <p:cNvPr id="6" name="Rounded Rectangle 5"/>
          <p:cNvSpPr/>
          <p:nvPr/>
        </p:nvSpPr>
        <p:spPr>
          <a:xfrm>
            <a:off x="731520" y="1371600"/>
            <a:ext cx="6858000" cy="4937760"/>
          </a:xfrm>
          <a:prstGeom prst="roundRect">
            <a:avLst/>
          </a:prstGeom>
          <a:solidFill>
            <a:srgbClr val="F5F8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600">
                <a:solidFill>
                  <a:srgbClr val="1F497D"/>
                </a:solidFill>
              </a:defRPr>
            </a:pPr>
            <a:r>
              <a:t>Đúc Kết 3 Phát Hiện Chính &amp; 2 Hạn Chế</a:t>
            </a:r>
          </a:p>
          <a:p>
            <a:pPr>
              <a:spcBef>
                <a:spcPts val="800"/>
              </a:spcBef>
            </a:pPr>
            <a:r>
              <a:rPr b="1" sz="1150">
                <a:solidFill>
                  <a:srgbClr val="1F497D"/>
                </a:solidFill>
              </a:rPr>
              <a:t>• Phát hiện 1 (Tương quan có ý nghĩa): </a:t>
            </a:r>
            <a:r>
              <a:rPr sz="1150">
                <a:solidFill>
                  <a:srgbClr val="232323"/>
                </a:solidFill>
              </a:rPr>
              <a:t>Tồn tại tương quan thuận có ý nghĩa thống kê giữa điểm giữa kỳ và cuối kỳ (r = 0.495, p = 0.0039).</a:t>
            </a:r>
          </a:p>
          <a:p>
            <a:pPr>
              <a:spcBef>
                <a:spcPts val="800"/>
              </a:spcBef>
            </a:pPr>
            <a:r>
              <a:rPr b="1" sz="1150">
                <a:solidFill>
                  <a:srgbClr val="1F497D"/>
                </a:solidFill>
              </a:rPr>
              <a:t>• Phát hiện 2 (Hệ số góc OLS): </a:t>
            </a:r>
            <a:r>
              <a:rPr sz="1150">
                <a:solidFill>
                  <a:srgbClr val="232323"/>
                </a:solidFill>
              </a:rPr>
              <a:t>Mỗi 1 điểm giữa kỳ tăng thêm tương ứng mức tăng dự đoán trung bình 0.500 điểm bài thi cuối kỳ (R² = 24.5%).</a:t>
            </a:r>
          </a:p>
          <a:p>
            <a:pPr>
              <a:spcBef>
                <a:spcPts val="800"/>
              </a:spcBef>
            </a:pPr>
            <a:r>
              <a:rPr b="1" sz="1150">
                <a:solidFill>
                  <a:srgbClr val="1F497D"/>
                </a:solidFill>
              </a:rPr>
              <a:t>• Phát hiện 3 (Vượt ngưỡng chuẩn): </a:t>
            </a:r>
            <a:r>
              <a:rPr sz="1150">
                <a:solidFill>
                  <a:srgbClr val="232323"/>
                </a:solidFill>
              </a:rPr>
              <a:t>Điểm cuối kỳ trung bình đạt 7.39 điểm, vượt ngưỡng chuẩn 7.0 điểm có ý nghĩa thống kê ở mức alpha = 0.05 (p = 0.0423).</a:t>
            </a:r>
          </a:p>
          <a:p>
            <a:pPr>
              <a:spcBef>
                <a:spcPts val="800"/>
              </a:spcBef>
            </a:pPr>
            <a:r>
              <a:rPr b="1" sz="1150">
                <a:solidFill>
                  <a:srgbClr val="B43232"/>
                </a:solidFill>
              </a:rPr>
              <a:t>• Hạn chế 1 (Biến gây nhiễu): </a:t>
            </a:r>
            <a:r>
              <a:rPr sz="1150">
                <a:solidFill>
                  <a:srgbClr val="232323"/>
                </a:solidFill>
              </a:rPr>
              <a:t>Mô hình chưa kiểm soát thời gian tự học thực tế và độ khó đề thi.</a:t>
            </a:r>
          </a:p>
          <a:p>
            <a:pPr>
              <a:spcBef>
                <a:spcPts val="800"/>
              </a:spcBef>
            </a:pPr>
            <a:r>
              <a:rPr b="1" sz="1150">
                <a:solidFill>
                  <a:srgbClr val="B43232"/>
                </a:solidFill>
              </a:rPr>
              <a:t>• Hạn chế 2 (Giới hạn mẫu): </a:t>
            </a:r>
            <a:r>
              <a:rPr sz="1150">
                <a:solidFill>
                  <a:srgbClr val="232323"/>
                </a:solidFill>
              </a:rPr>
              <a:t>Mẫu khảo sát thuận tiện (n = 32) hạn chế khả năng suy rộng cho các học kỳ khác.</a:t>
            </a:r>
          </a:p>
        </p:txBody>
      </p:sp>
      <p:sp>
        <p:nvSpPr>
          <p:cNvPr id="7" name="Rounded Rectangle 6"/>
          <p:cNvSpPr/>
          <p:nvPr/>
        </p:nvSpPr>
        <p:spPr>
          <a:xfrm>
            <a:off x="7863840" y="1371600"/>
            <a:ext cx="3566160" cy="4937760"/>
          </a:xfrm>
          <a:prstGeom prst="round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800">
                <a:solidFill>
                  <a:srgbClr val="FFFFFF"/>
                </a:solidFill>
              </a:defRPr>
            </a:pPr>
            <a:r>
              <a:t>CẢM ƠN THẦY/CÔ VÀ CÁC BẠN!</a:t>
            </a:r>
          </a:p>
          <a:p>
            <a:pPr algn="ctr">
              <a:spcBef>
                <a:spcPts val="2400"/>
              </a:spcBef>
              <a:defRPr b="1" sz="2800">
                <a:solidFill>
                  <a:srgbClr val="C8E1FF"/>
                </a:solidFill>
              </a:defRPr>
            </a:pPr>
            <a:r>
              <a:t>HỎI ĐÁP</a:t>
            </a:r>
            <a:br/>
            <a:r>
              <a:t>(Q &amp; A)</a:t>
            </a:r>
          </a:p>
          <a:p>
            <a:pPr algn="ctr">
              <a:spcBef>
                <a:spcPts val="3600"/>
              </a:spcBef>
              <a:defRPr sz="1200">
                <a:solidFill>
                  <a:srgbClr val="DCEBFA"/>
                </a:solidFill>
              </a:defRPr>
            </a:pPr>
            <a:r>
              <a:t>Nhóm rất mong nhận được những câu hỏi và ý kiến đóng góp từ Thầy/Cô và các bạn sinh viên.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